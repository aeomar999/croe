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then move. ‘Croe makes it safe to buy and sell on WhatsApp and Instagram in Ghana, by holding the buyer’s Mobile Money until the goods actually arrive.’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pitch in one image — everyone has been on one side of this exact conversation. Buyers get scammed with no recourse; vendors lose orders and eat COD rejections and fake screenshots. Land that this is structural, not bad luck.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insight: MoMo's finality is a feature for peer-to-peer transfers and a catastrophe for commerce between strangers. Card networks solved this with chargebacks; mobile money never got that layer. That gap is the company.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zero behaviour change: conversation stays on WhatsApp, payment is the familiar USSD prompt. The vendor sends a link instead of a MoMo number — that's the entire ask. Key line: vendor can see the money is secured but cannot touch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live if you have three minutes — strongest thing in the room. If asked how a student built this: a 28-document written specification before any code, and a phase-gate rule that nothing advances until production-grade and tested. Offer the spec package as the diligence pack.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decides the meeting. Anyone serious about African fintech is already thinking ‘these people are running unlicensed custody.’ Answer it before they ask. The regulatory answer is the most differentiating thing about this company.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CustodyProvider interface means escrow logic never changes when custody moves — an architecture decision made because of the regulatory reality, at spec time. A bank partner is both the compliance solution and a potential distribution partner. If pitching a bank or fintech-adjacent fund, this slide is the 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 point: a support-heavy escrow product can't scale at GHS 450 average orders — automating tiers 1–2 is what makes unit economics work. Self-hosting matters for Act 843: no customer dispute evidence goes to a third-party 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honestly that aggregator pricing is being confirmed; do not present these as settled. If pushed on how small GHS 8 is: agree, go to the lever — average ticket. Electronics/sneakers (~GHS 1,200 avg) net roughly 3x per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Vendor-led B2B2C is the only acquisition model that works here — buyers will never seek out an escrow app. Segment choice is quantified: low-ticket repeat sellers already have trust; a GHS 1,200 phone seller loses deals weekly to exactly this standoff.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straightforwardly honest — you are pre-revenue. Never invent traction numbers. Strength: you know exactly which four numbers prove or kill the business. ‘If dispute rate or adjudication accuracy come back bad, I want to know in 60 days, not two years.’ Signed vendor commitment letters are the strongest pre-launch asset — get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the number to the milestone, never to a runway period. ‘First real transactions on licensed rails with measured unit economics’ is fundable; ‘nine months’ is not. Itemised budget exists in GO-TO-MARKET.md section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the spec package as the diligence pack.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the room is technical. Each line maps to a documented engineering rule.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risks with responses reads as competence, not weakness — especially from a young founder. The unspoken question is always ‘do they know what they don't know.’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Abstraction was designed in from day one; expansion is an implementation task, not a rebuild.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 the commitment answer before every meeting — you will be asked every single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481328"/>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10058400" cy="548640"/>
          </a:xfrm>
          <a:prstGeom prst="rect">
            <a:avLst/>
          </a:prstGeom>
          <a:noFill/>
        </p:spPr>
        <p:txBody>
          <a:bodyPr wrap="square" lIns="0" rIns="0" tIns="0" bIns="0">
            <a:spAutoFit/>
          </a:bodyPr>
          <a:lstStyle/>
          <a:p>
            <a:r>
              <a:rPr sz="4800" b="1">
                <a:solidFill>
                  <a:srgbClr val="1E293B"/>
                </a:solidFill>
                <a:latin typeface="Inter"/>
              </a:rPr>
              <a:t>Croe</a:t>
            </a:r>
          </a:p>
        </p:txBody>
      </p:sp>
      <p:sp>
        <p:nvSpPr>
          <p:cNvPr id="5" name="TextBox 4"/>
          <p:cNvSpPr txBox="1"/>
          <p:nvPr/>
        </p:nvSpPr>
        <p:spPr>
          <a:xfrm>
            <a:off x="777240" y="1783080"/>
            <a:ext cx="9601200" cy="164592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Escrow for social commerce,</a:t>
            </a:r>
          </a:p>
          <a:p>
            <a:pPr algn="l">
              <a:spcBef>
                <a:spcPts val="0"/>
              </a:spcBef>
              <a:spcAft>
                <a:spcPts val="0"/>
              </a:spcAft>
            </a:pPr>
            <a:r>
              <a:rPr sz="3000" b="1">
                <a:solidFill>
                  <a:srgbClr val="1E293B"/>
                </a:solidFill>
                <a:latin typeface="Inter"/>
              </a:rPr>
              <a:t>on Mobile Money.</a:t>
            </a:r>
          </a:p>
        </p:txBody>
      </p:sp>
      <p:sp>
        <p:nvSpPr>
          <p:cNvPr id="6" name="TextBox 5"/>
          <p:cNvSpPr txBox="1"/>
          <p:nvPr/>
        </p:nvSpPr>
        <p:spPr>
          <a:xfrm>
            <a:off x="777240" y="3337560"/>
            <a:ext cx="8686800" cy="731520"/>
          </a:xfrm>
          <a:prstGeom prst="rect">
            <a:avLst/>
          </a:prstGeom>
          <a:noFill/>
        </p:spPr>
        <p:txBody>
          <a:bodyPr wrap="square" lIns="0" rIns="0" tIns="0" bIns="0">
            <a:spAutoFit/>
          </a:bodyPr>
          <a:lstStyle/>
          <a:p>
            <a:pPr algn="l">
              <a:spcBef>
                <a:spcPts val="0"/>
              </a:spcBef>
              <a:spcAft>
                <a:spcPts val="0"/>
              </a:spcAft>
            </a:pPr>
            <a:r>
              <a:rPr sz="1700" b="0">
                <a:solidFill>
                  <a:srgbClr val="64748B"/>
                </a:solidFill>
                <a:latin typeface="Inter"/>
              </a:rPr>
              <a:t>The trust layer for buying and selling on WhatsApp and Instagram — Ghana first.</a:t>
            </a:r>
          </a:p>
        </p:txBody>
      </p:sp>
      <p:sp>
        <p:nvSpPr>
          <p:cNvPr id="7" name="TextBox 6"/>
          <p:cNvSpPr txBox="1"/>
          <p:nvPr/>
        </p:nvSpPr>
        <p:spPr>
          <a:xfrm>
            <a:off x="777240" y="5394960"/>
            <a:ext cx="9144000" cy="457200"/>
          </a:xfrm>
          <a:prstGeom prst="rect">
            <a:avLst/>
          </a:prstGeom>
          <a:noFill/>
        </p:spPr>
        <p:txBody>
          <a:bodyPr wrap="square" lIns="0" rIns="0" tIns="0" bIns="0">
            <a:spAutoFit/>
          </a:bodyPr>
          <a:lstStyle/>
          <a:p>
            <a:pPr algn="l">
              <a:spcBef>
                <a:spcPts val="0"/>
              </a:spcBef>
              <a:spcAft>
                <a:spcPts val="0"/>
              </a:spcAft>
            </a:pPr>
            <a:r>
              <a:rPr sz="1400" b="0">
                <a:solidFill>
                  <a:srgbClr val="64748B"/>
                </a:solidFill>
                <a:latin typeface="Inter"/>
              </a:rPr>
              <a:t/>
            </a:r>
            <a:r>
              <a:rPr sz="1300" b="1">
                <a:solidFill>
                  <a:srgbClr val="92400E"/>
                </a:solidFill>
                <a:latin typeface="Inter"/>
              </a:rPr>
              <a:t>[FILL: Name]</a:t>
            </a:r>
            <a:r>
              <a:rPr sz="1400" b="0">
                <a:solidFill>
                  <a:srgbClr val="64748B"/>
                </a:solidFill>
                <a:latin typeface="Inter"/>
              </a:rPr>
              <a:t>   ·   </a:t>
            </a:r>
            <a:r>
              <a:rPr sz="1300" b="1">
                <a:solidFill>
                  <a:srgbClr val="92400E"/>
                </a:solidFill>
                <a:latin typeface="Inter"/>
              </a:rPr>
              <a:t>[FILL: email]</a:t>
            </a:r>
            <a:r>
              <a:rPr sz="1400" b="0">
                <a:solidFill>
                  <a:srgbClr val="64748B"/>
                </a:solidFill>
                <a:latin typeface="Inter"/>
              </a:rPr>
              <a:t>   ·   </a:t>
            </a:r>
            <a:r>
              <a:rPr sz="1300" b="1">
                <a:solidFill>
                  <a:srgbClr val="92400E"/>
                </a:solidFill>
                <a:latin typeface="Inter"/>
              </a:rPr>
              <a:t>[FILL: month year]</a:t>
            </a:r>
          </a:p>
        </p:txBody>
      </p:sp>
      <p:sp>
        <p:nvSpPr>
          <p:cNvPr id="8" name="TextBox 7"/>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9" name="TextBox 8"/>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THE PROBLEM</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Every social commerce sale starts with a standoff.</a:t>
            </a:r>
          </a:p>
        </p:txBody>
      </p:sp>
      <p:sp>
        <p:nvSpPr>
          <p:cNvPr id="5" name="Rounded Rectangle 4"/>
          <p:cNvSpPr/>
          <p:nvPr/>
        </p:nvSpPr>
        <p:spPr>
          <a:xfrm>
            <a:off x="777240" y="2240280"/>
            <a:ext cx="4297680" cy="3749039"/>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514600"/>
            <a:ext cx="2377440" cy="713232"/>
          </a:xfrm>
          <a:prstGeom prst="roundRect">
            <a:avLst>
              <a:gd name="adj" fmla="val 2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ctr"/>
            <a:r>
              <a:rPr sz="1200" b="0">
                <a:solidFill>
                  <a:srgbClr val="FFFFFF"/>
                </a:solidFill>
                <a:latin typeface="Inter"/>
              </a:rPr>
              <a:t>Send the money first.</a:t>
            </a:r>
          </a:p>
          <a:p>
            <a:r>
              <a:rPr sz="900" b="0">
                <a:solidFill>
                  <a:srgbClr val="DBEAFE"/>
                </a:solidFill>
                <a:latin typeface="Inter"/>
              </a:rPr>
              <a:t>Vendor · seen</a:t>
            </a:r>
          </a:p>
        </p:txBody>
      </p:sp>
      <p:sp>
        <p:nvSpPr>
          <p:cNvPr id="7" name="Rounded Rectangle 6"/>
          <p:cNvSpPr/>
          <p:nvPr/>
        </p:nvSpPr>
        <p:spPr>
          <a:xfrm>
            <a:off x="1097280" y="3410712"/>
            <a:ext cx="2377440" cy="713232"/>
          </a:xfrm>
          <a:prstGeom prst="roundRect">
            <a:avLst>
              <a:gd name="adj" fmla="val 28000"/>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ctr"/>
            <a:r>
              <a:rPr sz="1200" b="0">
                <a:solidFill>
                  <a:srgbClr val="1E293B"/>
                </a:solidFill>
                <a:latin typeface="Inter"/>
              </a:rPr>
              <a:t>No — send the goods first.</a:t>
            </a:r>
          </a:p>
          <a:p>
            <a:r>
              <a:rPr sz="900" b="0">
                <a:solidFill>
                  <a:srgbClr val="94A3B8"/>
                </a:solidFill>
                <a:latin typeface="Inter"/>
              </a:rPr>
              <a:t>Buyer · seen</a:t>
            </a:r>
          </a:p>
        </p:txBody>
      </p:sp>
      <p:sp>
        <p:nvSpPr>
          <p:cNvPr id="8" name="Rounded Rectangle 7"/>
          <p:cNvSpPr/>
          <p:nvPr/>
        </p:nvSpPr>
        <p:spPr>
          <a:xfrm>
            <a:off x="1463040" y="4306824"/>
            <a:ext cx="3291840" cy="713232"/>
          </a:xfrm>
          <a:prstGeom prst="roundRect">
            <a:avLst>
              <a:gd name="adj" fmla="val 2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ctr"/>
            <a:r>
              <a:rPr sz="1200" b="0">
                <a:solidFill>
                  <a:srgbClr val="FFFFFF"/>
                </a:solidFill>
                <a:latin typeface="Inter"/>
              </a:rPr>
              <a:t>I can't ship to a stranger without payment.</a:t>
            </a:r>
          </a:p>
          <a:p>
            <a:r>
              <a:rPr sz="900" b="0">
                <a:solidFill>
                  <a:srgbClr val="DBEAFE"/>
                </a:solidFill>
                <a:latin typeface="Inter"/>
              </a:rPr>
              <a:t>Vendor · seen</a:t>
            </a:r>
          </a:p>
        </p:txBody>
      </p:sp>
      <p:sp>
        <p:nvSpPr>
          <p:cNvPr id="9" name="Rounded Rectangle 8"/>
          <p:cNvSpPr/>
          <p:nvPr/>
        </p:nvSpPr>
        <p:spPr>
          <a:xfrm>
            <a:off x="1097280" y="5202936"/>
            <a:ext cx="2377440" cy="713232"/>
          </a:xfrm>
          <a:prstGeom prst="roundRect">
            <a:avLst>
              <a:gd name="adj" fmla="val 28000"/>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ctr"/>
            <a:r>
              <a:rPr sz="1200" b="0">
                <a:solidFill>
                  <a:srgbClr val="1E293B"/>
                </a:solidFill>
                <a:latin typeface="Inter"/>
              </a:rPr>
              <a:t>And I can't pay a stranger.</a:t>
            </a:r>
          </a:p>
          <a:p>
            <a:r>
              <a:rPr sz="900" b="0">
                <a:solidFill>
                  <a:srgbClr val="94A3B8"/>
                </a:solidFill>
                <a:latin typeface="Inter"/>
              </a:rPr>
              <a:t>Buyer · seen</a:t>
            </a:r>
          </a:p>
        </p:txBody>
      </p:sp>
      <p:sp>
        <p:nvSpPr>
          <p:cNvPr id="10" name="TextBox 9"/>
          <p:cNvSpPr txBox="1"/>
          <p:nvPr/>
        </p:nvSpPr>
        <p:spPr>
          <a:xfrm>
            <a:off x="5577840" y="2377440"/>
            <a:ext cx="5760720" cy="2377440"/>
          </a:xfrm>
          <a:prstGeom prst="rect">
            <a:avLst/>
          </a:prstGeom>
          <a:noFill/>
        </p:spPr>
        <p:txBody>
          <a:bodyPr wrap="square" lIns="0" rIns="0" tIns="0" bIns="0">
            <a:spAutoFit/>
          </a:bodyPr>
          <a:lstStyle/>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1">
                <a:solidFill>
                  <a:srgbClr val="1E293B"/>
                </a:solidFill>
                <a:latin typeface="Inter"/>
              </a:rPr>
              <a:t>Both sides are being rational.</a:t>
            </a:r>
            <a:r>
              <a:rPr sz="1500" b="0">
                <a:solidFill>
                  <a:srgbClr val="64748B"/>
                </a:solidFill>
                <a:latin typeface="Inter"/>
              </a:rPr>
              <a:t> The sale dies in between.</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1">
                <a:solidFill>
                  <a:srgbClr val="1E293B"/>
                </a:solidFill>
                <a:latin typeface="Inter"/>
              </a:rPr>
              <a:t>Buyers</a:t>
            </a:r>
            <a:r>
              <a:rPr sz="1500" b="0">
                <a:solidFill>
                  <a:srgbClr val="64748B"/>
                </a:solidFill>
                <a:latin typeface="Inter"/>
              </a:rPr>
              <a:t> get scammed with no recourse — no receipt worth having, no arbiter, no refund route.</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1">
                <a:solidFill>
                  <a:srgbClr val="1E293B"/>
                </a:solidFill>
                <a:latin typeface="Inter"/>
              </a:rPr>
              <a:t>Vendors</a:t>
            </a:r>
            <a:r>
              <a:rPr sz="1500" b="0">
                <a:solidFill>
                  <a:srgbClr val="64748B"/>
                </a:solidFill>
                <a:latin typeface="Inter"/>
              </a:rPr>
              <a:t> lose orders they should close, eat cash-on-delivery rejections and fake payment screenshots.</a:t>
            </a:r>
          </a:p>
        </p:txBody>
      </p:sp>
      <p:sp>
        <p:nvSpPr>
          <p:cNvPr id="11" name="Rounded Rectangle 10"/>
          <p:cNvSpPr/>
          <p:nvPr/>
        </p:nvSpPr>
        <p:spPr>
          <a:xfrm>
            <a:off x="5577840" y="5120640"/>
            <a:ext cx="5760720" cy="658368"/>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1E293B"/>
                </a:solidFill>
                <a:latin typeface="Inter"/>
              </a:rPr>
              <a:t>This is structural.</a:t>
            </a:r>
            <a:r>
              <a:rPr sz="1500" b="0">
                <a:solidFill>
                  <a:srgbClr val="1E40AF"/>
                </a:solidFill>
                <a:latin typeface="Inter"/>
              </a:rPr>
              <a:t> There is no trust layer on top of Mobile Money.</a:t>
            </a:r>
          </a:p>
        </p:txBody>
      </p:sp>
      <p:sp>
        <p:nvSpPr>
          <p:cNvPr id="12" name="TextBox 11"/>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13" name="TextBox 12"/>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WHY THIS PERSISTS</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The rail works. The trust layer doesn't exist.</a:t>
            </a:r>
          </a:p>
        </p:txBody>
      </p:sp>
      <p:sp>
        <p:nvSpPr>
          <p:cNvPr id="5" name="TextBox 4"/>
          <p:cNvSpPr txBox="1"/>
          <p:nvPr/>
        </p:nvSpPr>
        <p:spPr>
          <a:xfrm>
            <a:off x="777240" y="2377440"/>
            <a:ext cx="10424160" cy="2011680"/>
          </a:xfrm>
          <a:prstGeom prst="rect">
            <a:avLst/>
          </a:prstGeom>
          <a:noFill/>
        </p:spPr>
        <p:txBody>
          <a:bodyPr wrap="square" lIns="0" rIns="0" tIns="0" bIns="0">
            <a:spAutoFit/>
          </a:bodyPr>
          <a:lstStyle/>
          <a:p>
            <a:pPr algn="l">
              <a:spcBef>
                <a:spcPts val="0"/>
              </a:spcBef>
              <a:spcAft>
                <a:spcPts val="1400"/>
              </a:spcAft>
            </a:pPr>
            <a:r>
              <a:rPr sz="1700" b="0">
                <a:solidFill>
                  <a:srgbClr val="64748B"/>
                </a:solidFill>
                <a:latin typeface="Inter"/>
              </a:rPr>
              <a:t/>
            </a:r>
            <a:r>
              <a:rPr sz="1700" b="1">
                <a:solidFill>
                  <a:srgbClr val="2563EB"/>
                </a:solidFill>
                <a:latin typeface="Inter"/>
              </a:rPr>
              <a:t>•  </a:t>
            </a:r>
            <a:r>
              <a:rPr sz="1700" b="1">
                <a:solidFill>
                  <a:srgbClr val="1E293B"/>
                </a:solidFill>
                <a:latin typeface="Inter"/>
              </a:rPr>
              <a:t>MoMo is universal.</a:t>
            </a:r>
            <a:r>
              <a:rPr sz="1700" b="0">
                <a:solidFill>
                  <a:srgbClr val="64748B"/>
                </a:solidFill>
                <a:latin typeface="Inter"/>
              </a:rPr>
              <a:t> MTN, Telecel, AirtelTigo — everyone already has a wallet.</a:t>
            </a:r>
          </a:p>
          <a:p>
            <a:pPr algn="l">
              <a:spcBef>
                <a:spcPts val="0"/>
              </a:spcBef>
              <a:spcAft>
                <a:spcPts val="1400"/>
              </a:spcAft>
            </a:pPr>
            <a:r>
              <a:rPr sz="1700" b="0">
                <a:solidFill>
                  <a:srgbClr val="64748B"/>
                </a:solidFill>
                <a:latin typeface="Inter"/>
              </a:rPr>
              <a:t/>
            </a:r>
            <a:r>
              <a:rPr sz="1700" b="1">
                <a:solidFill>
                  <a:srgbClr val="2563EB"/>
                </a:solidFill>
                <a:latin typeface="Inter"/>
              </a:rPr>
              <a:t>•  </a:t>
            </a:r>
            <a:r>
              <a:rPr sz="1700" b="1">
                <a:solidFill>
                  <a:srgbClr val="1E293B"/>
                </a:solidFill>
                <a:latin typeface="Inter"/>
              </a:rPr>
              <a:t>MoMo is final.</a:t>
            </a:r>
            <a:r>
              <a:rPr sz="1700" b="0">
                <a:solidFill>
                  <a:srgbClr val="64748B"/>
                </a:solidFill>
                <a:latin typeface="Inter"/>
              </a:rPr>
              <a:t> Once sent, it's gone. No chargeback, no dispute, no reversal.</a:t>
            </a:r>
          </a:p>
          <a:p>
            <a:pPr algn="l">
              <a:spcBef>
                <a:spcPts val="0"/>
              </a:spcBef>
              <a:spcAft>
                <a:spcPts val="1400"/>
              </a:spcAft>
            </a:pPr>
            <a:r>
              <a:rPr sz="1700" b="0">
                <a:solidFill>
                  <a:srgbClr val="64748B"/>
                </a:solidFill>
                <a:latin typeface="Inter"/>
              </a:rPr>
              <a:t/>
            </a:r>
            <a:r>
              <a:rPr sz="1700" b="1">
                <a:solidFill>
                  <a:srgbClr val="2563EB"/>
                </a:solidFill>
                <a:latin typeface="Inter"/>
              </a:rPr>
              <a:t>•  </a:t>
            </a:r>
            <a:r>
              <a:rPr sz="1700" b="1">
                <a:solidFill>
                  <a:srgbClr val="1E293B"/>
                </a:solidFill>
                <a:latin typeface="Inter"/>
              </a:rPr>
              <a:t>Social commerce grew on top of it anyway</a:t>
            </a:r>
            <a:r>
              <a:rPr sz="1700" b="0">
                <a:solidFill>
                  <a:srgbClr val="64748B"/>
                </a:solidFill>
                <a:latin typeface="Inter"/>
              </a:rPr>
              <a:t> — and absorbed the fraud as a cost of doing business.</a:t>
            </a:r>
          </a:p>
        </p:txBody>
      </p:sp>
      <p:sp>
        <p:nvSpPr>
          <p:cNvPr id="6" name="TextBox 5"/>
          <p:cNvSpPr txBox="1"/>
          <p:nvPr/>
        </p:nvSpPr>
        <p:spPr>
          <a:xfrm>
            <a:off x="777240" y="4572000"/>
            <a:ext cx="9875520" cy="1280160"/>
          </a:xfrm>
          <a:prstGeom prst="rect">
            <a:avLst/>
          </a:prstGeom>
          <a:noFill/>
        </p:spPr>
        <p:txBody>
          <a:bodyPr wrap="square" lIns="0" rIns="0" tIns="0" bIns="0">
            <a:spAutoFit/>
          </a:bodyPr>
          <a:lstStyle/>
          <a:p>
            <a:r>
              <a:rPr sz="1900" b="0">
                <a:solidFill>
                  <a:srgbClr val="64748B"/>
                </a:solidFill>
                <a:latin typeface="Inter"/>
              </a:rPr>
              <a:t>Card networks solved this decades ago with chargebacks. </a:t>
            </a:r>
            <a:r>
              <a:rPr sz="1900" b="1">
                <a:solidFill>
                  <a:srgbClr val="1E293B"/>
                </a:solidFill>
                <a:latin typeface="Inter"/>
              </a:rPr>
              <a:t>Mobile money never got that layer. That gap is the company.</a:t>
            </a:r>
          </a:p>
        </p:txBody>
      </p:sp>
      <p:sp>
        <p:nvSpPr>
          <p:cNvPr id="7" name="TextBox 6"/>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8" name="TextBox 7"/>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THE SOLUTION</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Croe holds the money until the goods arrive.</a:t>
            </a:r>
          </a:p>
        </p:txBody>
      </p:sp>
      <p:sp>
        <p:nvSpPr>
          <p:cNvPr id="5" name="Rounded Rectangle 4"/>
          <p:cNvSpPr/>
          <p:nvPr/>
        </p:nvSpPr>
        <p:spPr>
          <a:xfrm>
            <a:off x="777240" y="2286000"/>
            <a:ext cx="2542032" cy="22860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600" b="1">
                <a:solidFill>
                  <a:srgbClr val="2563EB"/>
                </a:solidFill>
                <a:latin typeface="Inter"/>
              </a:rPr>
              <a:t>1 · Link</a:t>
            </a:r>
          </a:p>
          <a:p>
            <a:pPr>
              <a:spcBef>
                <a:spcPts val="600"/>
              </a:spcBef>
            </a:pPr>
            <a:r>
              <a:rPr sz="1250" b="0">
                <a:solidFill>
                  <a:srgbClr val="64748B"/>
                </a:solidFill>
                <a:latin typeface="Inter"/>
              </a:rPr>
              <a:t>Vendor generates a payment link, shares it in the chat where the sale already is.</a:t>
            </a:r>
          </a:p>
        </p:txBody>
      </p:sp>
      <p:sp>
        <p:nvSpPr>
          <p:cNvPr id="6" name="Rounded Rectangle 5"/>
          <p:cNvSpPr/>
          <p:nvPr/>
        </p:nvSpPr>
        <p:spPr>
          <a:xfrm>
            <a:off x="3474720" y="2286000"/>
            <a:ext cx="2542032" cy="22860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600" b="1">
                <a:solidFill>
                  <a:srgbClr val="2563EB"/>
                </a:solidFill>
                <a:latin typeface="Inter"/>
              </a:rPr>
              <a:t>2 · Pay</a:t>
            </a:r>
          </a:p>
          <a:p>
            <a:pPr>
              <a:spcBef>
                <a:spcPts val="600"/>
              </a:spcBef>
            </a:pPr>
            <a:r>
              <a:rPr sz="1250" b="0">
                <a:solidFill>
                  <a:srgbClr val="64748B"/>
                </a:solidFill>
                <a:latin typeface="Inter"/>
              </a:rPr>
              <a:t>Buyer pays via the familiar MoMo USSD prompt. Funds lock in escrow.</a:t>
            </a:r>
          </a:p>
        </p:txBody>
      </p:sp>
      <p:sp>
        <p:nvSpPr>
          <p:cNvPr id="7" name="Rounded Rectangle 6"/>
          <p:cNvSpPr/>
          <p:nvPr/>
        </p:nvSpPr>
        <p:spPr>
          <a:xfrm>
            <a:off x="6172200" y="2286000"/>
            <a:ext cx="2542032" cy="22860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600" b="1">
                <a:solidFill>
                  <a:srgbClr val="2563EB"/>
                </a:solidFill>
                <a:latin typeface="Inter"/>
              </a:rPr>
              <a:t>3 · Ship</a:t>
            </a:r>
          </a:p>
          <a:p>
            <a:pPr>
              <a:spcBef>
                <a:spcPts val="600"/>
              </a:spcBef>
            </a:pPr>
            <a:r>
              <a:rPr sz="1250" b="0">
                <a:solidFill>
                  <a:srgbClr val="64748B"/>
                </a:solidFill>
                <a:latin typeface="Inter"/>
              </a:rPr>
              <a:t>Vendor ships against confirmed money, not a promise.</a:t>
            </a:r>
          </a:p>
        </p:txBody>
      </p:sp>
      <p:sp>
        <p:nvSpPr>
          <p:cNvPr id="8" name="Rounded Rectangle 7"/>
          <p:cNvSpPr/>
          <p:nvPr/>
        </p:nvSpPr>
        <p:spPr>
          <a:xfrm>
            <a:off x="8869680" y="2286000"/>
            <a:ext cx="2542032" cy="22860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r>
              <a:rPr sz="1600" b="1">
                <a:solidFill>
                  <a:srgbClr val="2563EB"/>
                </a:solidFill>
                <a:latin typeface="Inter"/>
              </a:rPr>
              <a:t>4 · Release</a:t>
            </a:r>
          </a:p>
          <a:p>
            <a:pPr>
              <a:spcBef>
                <a:spcPts val="600"/>
              </a:spcBef>
            </a:pPr>
            <a:r>
              <a:rPr sz="1250" b="0">
                <a:solidFill>
                  <a:srgbClr val="64748B"/>
                </a:solidFill>
                <a:latin typeface="Inter"/>
              </a:rPr>
              <a:t>Buyer confirms delivery — vendor paid automatically, less commission.</a:t>
            </a:r>
          </a:p>
        </p:txBody>
      </p:sp>
      <p:sp>
        <p:nvSpPr>
          <p:cNvPr id="9" name="Rounded Rectangle 8"/>
          <p:cNvSpPr/>
          <p:nvPr/>
        </p:nvSpPr>
        <p:spPr>
          <a:xfrm>
            <a:off x="777240" y="4983480"/>
            <a:ext cx="10634472" cy="868680"/>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1E293B"/>
                </a:solidFill>
                <a:latin typeface="Inter"/>
              </a:rPr>
              <a:t>The vendor can see the money is secured — but cannot touch it.</a:t>
            </a:r>
            <a:r>
              <a:rPr sz="1400" b="0">
                <a:solidFill>
                  <a:srgbClr val="1E40AF"/>
                </a:solidFill>
                <a:latin typeface="Inter"/>
              </a:rPr>
              <a:t> That is what makes them willing to ship, and what the buyer is paying for.</a:t>
            </a:r>
          </a:p>
        </p:txBody>
      </p:sp>
      <p:sp>
        <p:nvSpPr>
          <p:cNvPr id="10" name="TextBox 9"/>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11" name="TextBox 10"/>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PRODUCT</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It's built. Not a prototype.</a:t>
            </a:r>
          </a:p>
        </p:txBody>
      </p:sp>
      <p:sp>
        <p:nvSpPr>
          <p:cNvPr id="5" name="TextBox 4"/>
          <p:cNvSpPr txBox="1"/>
          <p:nvPr/>
        </p:nvSpPr>
        <p:spPr>
          <a:xfrm>
            <a:off x="777240" y="2377440"/>
            <a:ext cx="6035040" cy="2926080"/>
          </a:xfrm>
          <a:prstGeom prst="rect">
            <a:avLst/>
          </a:prstGeom>
          <a:noFill/>
        </p:spPr>
        <p:txBody>
          <a:bodyPr wrap="square" lIns="0" rIns="0" tIns="0" bIns="0">
            <a:spAutoFit/>
          </a:bodyPr>
          <a:lstStyle/>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0">
                <a:solidFill>
                  <a:srgbClr val="64748B"/>
                </a:solidFill>
                <a:latin typeface="Inter"/>
              </a:rPr>
              <a:t>Complete backend + React Native mobile app, end-to-end on aggregator sandbox</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0">
                <a:solidFill>
                  <a:srgbClr val="64748B"/>
                </a:solidFill>
                <a:latin typeface="Inter"/>
              </a:rPr>
              <a:t>14-state escrow machine · append-only financial ledger</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0">
                <a:solidFill>
                  <a:srgbClr val="64748B"/>
                </a:solidFill>
                <a:latin typeface="Inter"/>
              </a:rPr>
              <a:t>HMAC-verified webhooks · idempotency · tiered KYC</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0">
                <a:solidFill>
                  <a:srgbClr val="64748B"/>
                </a:solidFill>
                <a:latin typeface="Inter"/>
              </a:rPr>
              <a:t>Forensic evidence capture · AI dispute triage · admin console · daily reconciliation</a:t>
            </a:r>
          </a:p>
        </p:txBody>
      </p:sp>
      <p:sp>
        <p:nvSpPr>
          <p:cNvPr id="6" name="Rounded Rectangle 5"/>
          <p:cNvSpPr/>
          <p:nvPr/>
        </p:nvSpPr>
        <p:spPr>
          <a:xfrm>
            <a:off x="7406640" y="2286000"/>
            <a:ext cx="3977639" cy="192024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5000" b="1">
                <a:solidFill>
                  <a:srgbClr val="2563EB"/>
                </a:solidFill>
                <a:latin typeface="Inter"/>
              </a:rPr>
              <a:t>354</a:t>
            </a:r>
          </a:p>
          <a:p>
            <a:pPr algn="ctr"/>
            <a:r>
              <a:rPr sz="1300" b="1">
                <a:solidFill>
                  <a:srgbClr val="1E293B"/>
                </a:solidFill>
                <a:latin typeface="Inter"/>
              </a:rPr>
              <a:t>automated tests passing</a:t>
            </a:r>
          </a:p>
          <a:p>
            <a:pPr algn="ctr"/>
            <a:r>
              <a:rPr sz="1050" b="0">
                <a:solidFill>
                  <a:srgbClr val="64748B"/>
                </a:solidFill>
                <a:latin typeface="Inter"/>
              </a:rPr>
              <a:t>concurrent-webhook race · money precision · fraud</a:t>
            </a:r>
          </a:p>
        </p:txBody>
      </p:sp>
      <p:sp>
        <p:nvSpPr>
          <p:cNvPr id="7" name="Rounded Rectangle 6"/>
          <p:cNvSpPr/>
          <p:nvPr/>
        </p:nvSpPr>
        <p:spPr>
          <a:xfrm>
            <a:off x="7406640" y="4434840"/>
            <a:ext cx="3977639" cy="141732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a:lstStyle/>
          <a:p>
            <a:pPr algn="ctr"/>
            <a:r>
              <a:rPr sz="1150" b="1">
                <a:solidFill>
                  <a:srgbClr val="1E293B"/>
                </a:solidFill>
                <a:latin typeface="Inter"/>
              </a:rPr>
              <a:t>Built from a 28-document spec package</a:t>
            </a:r>
            <a:r>
              <a:rPr sz="1150" b="0">
                <a:solidFill>
                  <a:srgbClr val="64748B"/>
                </a:solidFill>
                <a:latin typeface="Inter"/>
              </a:rPr>
              <a:t> — architecture, data model, threat model, testing strategy, regulatory analysis. It doubles as the due-diligence pack.</a:t>
            </a:r>
          </a:p>
        </p:txBody>
      </p:sp>
      <p:sp>
        <p:nvSpPr>
          <p:cNvPr id="8" name="TextBox 7"/>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9" name="TextBox 8"/>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THE HARD PART NOBODY SOLVES</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Escrow is a regulated activity, not a feature.</a:t>
            </a:r>
          </a:p>
        </p:txBody>
      </p:sp>
      <p:sp>
        <p:nvSpPr>
          <p:cNvPr id="5" name="TextBox 4"/>
          <p:cNvSpPr txBox="1"/>
          <p:nvPr/>
        </p:nvSpPr>
        <p:spPr>
          <a:xfrm>
            <a:off x="777240" y="2240280"/>
            <a:ext cx="10424160" cy="640080"/>
          </a:xfrm>
          <a:prstGeom prst="rect">
            <a:avLst/>
          </a:prstGeom>
          <a:noFill/>
        </p:spPr>
        <p:txBody>
          <a:bodyPr wrap="square" lIns="0" rIns="0" tIns="0" bIns="0">
            <a:spAutoFit/>
          </a:bodyPr>
          <a:lstStyle/>
          <a:p>
            <a:pPr algn="l">
              <a:spcBef>
                <a:spcPts val="0"/>
              </a:spcBef>
              <a:spcAft>
                <a:spcPts val="0"/>
              </a:spcAft>
            </a:pPr>
            <a:r>
              <a:rPr sz="1600" b="0">
                <a:solidFill>
                  <a:srgbClr val="64748B"/>
                </a:solidFill>
                <a:latin typeface="Inter"/>
              </a:rPr>
              <a:t/>
            </a:r>
            <a:r>
              <a:rPr sz="1600" b="0">
                <a:solidFill>
                  <a:srgbClr val="64748B"/>
                </a:solidFill>
                <a:latin typeface="Inter"/>
              </a:rPr>
              <a:t>Holding third-party funds falls under the </a:t>
            </a:r>
            <a:r>
              <a:rPr sz="1600" b="1">
                <a:solidFill>
                  <a:srgbClr val="1E293B"/>
                </a:solidFill>
                <a:latin typeface="Inter"/>
              </a:rPr>
              <a:t>Bank of Ghana</a:t>
            </a:r>
            <a:r>
              <a:rPr sz="1600" b="0">
                <a:solidFill>
                  <a:srgbClr val="64748B"/>
                </a:solidFill>
                <a:latin typeface="Inter"/>
              </a:rPr>
              <a:t> — Payment Systems and Services Act, 2019 (Act 987).</a:t>
            </a:r>
          </a:p>
        </p:txBody>
      </p:sp>
      <p:sp>
        <p:nvSpPr>
          <p:cNvPr id="6" name="Rounded Rectangle 5"/>
          <p:cNvSpPr/>
          <p:nvPr/>
        </p:nvSpPr>
        <p:spPr>
          <a:xfrm>
            <a:off x="777240" y="3017520"/>
            <a:ext cx="5212080" cy="13716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a:lstStyle/>
          <a:p>
            <a:pPr algn="ctr"/>
            <a:r>
              <a:rPr sz="1400" b="1">
                <a:solidFill>
                  <a:srgbClr val="1E293B"/>
                </a:solidFill>
                <a:latin typeface="Inter"/>
              </a:rPr>
              <a:t>Most attempts ignore it</a:t>
            </a:r>
          </a:p>
          <a:p>
            <a:r>
              <a:rPr sz="1200" b="0">
                <a:solidFill>
                  <a:srgbClr val="64748B"/>
                </a:solidFill>
                <a:latin typeface="Inter"/>
              </a:rPr>
              <a:t>Run unlicensed custody until shut down.</a:t>
            </a:r>
          </a:p>
        </p:txBody>
      </p:sp>
      <p:sp>
        <p:nvSpPr>
          <p:cNvPr id="7" name="Rounded Rectangle 6"/>
          <p:cNvSpPr/>
          <p:nvPr/>
        </p:nvSpPr>
        <p:spPr>
          <a:xfrm>
            <a:off x="6172200" y="3017520"/>
            <a:ext cx="5212080" cy="13716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a:lstStyle/>
          <a:p>
            <a:pPr algn="ctr"/>
            <a:r>
              <a:rPr sz="1400" b="1">
                <a:solidFill>
                  <a:srgbClr val="1E293B"/>
                </a:solidFill>
                <a:latin typeface="Inter"/>
              </a:rPr>
              <a:t>…or wait for their own licence</a:t>
            </a:r>
          </a:p>
          <a:p>
            <a:r>
              <a:rPr sz="1200" b="0">
                <a:solidFill>
                  <a:srgbClr val="64748B"/>
                </a:solidFill>
                <a:latin typeface="Inter"/>
              </a:rPr>
              <a:t>Millions of GHS in capital, years of approval.</a:t>
            </a:r>
          </a:p>
        </p:txBody>
      </p:sp>
      <p:sp>
        <p:nvSpPr>
          <p:cNvPr id="8" name="Rounded Rectangle 7"/>
          <p:cNvSpPr/>
          <p:nvPr/>
        </p:nvSpPr>
        <p:spPr>
          <a:xfrm>
            <a:off x="777240" y="4800600"/>
            <a:ext cx="10634472" cy="777240"/>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1E293B"/>
                </a:solidFill>
                <a:latin typeface="Inter"/>
              </a:rPr>
              <a:t>Croe never holds funds on its own account.</a:t>
            </a:r>
            <a:r>
              <a:rPr sz="1500" b="0">
                <a:solidFill>
                  <a:srgbClr val="1E40AF"/>
                </a:solidFill>
                <a:latin typeface="Inter"/>
              </a:rPr>
              <a:t> A licensed entity always holds the float.</a:t>
            </a:r>
          </a:p>
        </p:txBody>
      </p:sp>
      <p:sp>
        <p:nvSpPr>
          <p:cNvPr id="9" name="TextBox 8"/>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10" name="TextBox 9"/>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PHASED CUSTODY</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Compliance designed in, not retrofitted.</a:t>
            </a:r>
          </a:p>
        </p:txBody>
      </p:sp>
      <p:graphicFrame>
        <p:nvGraphicFramePr>
          <p:cNvPr id="5" name="Table 4"/>
          <p:cNvGraphicFramePr>
            <a:graphicFrameLocks noGrp="1"/>
          </p:cNvGraphicFramePr>
          <p:nvPr/>
        </p:nvGraphicFramePr>
        <p:xfrm>
          <a:off x="777240" y="2286000"/>
          <a:ext cx="10634471" cy="2651760"/>
        </p:xfrm>
        <a:graphic>
          <a:graphicData uri="http://schemas.openxmlformats.org/drawingml/2006/table">
            <a:tbl>
              <a:tblPr>
                <a:tableStyleId>{5C22544A-7EE6-4342-B048-85BDC9FD1C3A}</a:tableStyleId>
              </a:tblPr>
              <a:tblGrid>
                <a:gridCol w="2339583"/>
                <a:gridCol w="4891857"/>
                <a:gridCol w="3403031"/>
              </a:tblGrid>
              <a:tr h="384048">
                <a:tc>
                  <a:txBody>
                    <a:bodyPr wrap="square"/>
                    <a:lstStyle/>
                    <a:p>
                      <a:r>
                        <a:rPr sz="1100" b="1">
                          <a:solidFill>
                            <a:srgbClr val="1E40AF"/>
                          </a:solidFill>
                          <a:latin typeface="Inter"/>
                        </a:rPr>
                        <a:t>PHASE</a:t>
                      </a:r>
                    </a:p>
                  </a:txBody>
                  <a:tcPr anchor="ctr" marL="128016" marR="91440">
                    <a:solidFill>
                      <a:srgbClr val="EFF6FF"/>
                    </a:solidFill>
                  </a:tcPr>
                </a:tc>
                <a:tc>
                  <a:txBody>
                    <a:bodyPr wrap="square"/>
                    <a:lstStyle/>
                    <a:p>
                      <a:r>
                        <a:rPr sz="1100" b="1">
                          <a:solidFill>
                            <a:srgbClr val="1E40AF"/>
                          </a:solidFill>
                          <a:latin typeface="Inter"/>
                        </a:rPr>
                        <a:t>WHO HOLDS THE FLOAT</a:t>
                      </a:r>
                    </a:p>
                  </a:txBody>
                  <a:tcPr anchor="ctr" marL="128016" marR="91440">
                    <a:solidFill>
                      <a:srgbClr val="EFF6FF"/>
                    </a:solidFill>
                  </a:tcPr>
                </a:tc>
                <a:tc>
                  <a:txBody>
                    <a:bodyPr wrap="square"/>
                    <a:lstStyle/>
                    <a:p>
                      <a:r>
                        <a:rPr sz="1100" b="1">
                          <a:solidFill>
                            <a:srgbClr val="1E40AF"/>
                          </a:solidFill>
                          <a:latin typeface="Inter"/>
                        </a:rPr>
                        <a:t>NOTE</a:t>
                      </a:r>
                    </a:p>
                  </a:txBody>
                  <a:tcPr anchor="ctr" marL="128016" marR="91440">
                    <a:solidFill>
                      <a:srgbClr val="EFF6FF"/>
                    </a:solidFill>
                  </a:tcPr>
                </a:tc>
              </a:tr>
              <a:tr h="566928">
                <a:tc>
                  <a:txBody>
                    <a:bodyPr wrap="square"/>
                    <a:lstStyle/>
                    <a:p>
                      <a:r>
                        <a:rPr sz="1300" b="1">
                          <a:solidFill>
                            <a:srgbClr val="1E293B"/>
                          </a:solidFill>
                          <a:latin typeface="Inter"/>
                        </a:rPr>
                        <a:t>P0 · Build</a:t>
                      </a:r>
                    </a:p>
                  </a:txBody>
                  <a:tcPr anchor="ctr" marL="128016" marR="91440">
                    <a:solidFill>
                      <a:srgbClr val="FFFFFF"/>
                    </a:solidFill>
                  </a:tcPr>
                </a:tc>
                <a:tc>
                  <a:txBody>
                    <a:bodyPr wrap="square"/>
                    <a:lstStyle/>
                    <a:p>
                      <a:r>
                        <a:rPr sz="1300" b="0">
                          <a:solidFill>
                            <a:srgbClr val="64748B"/>
                          </a:solidFill>
                          <a:latin typeface="Inter"/>
                        </a:rPr>
                        <a:t>Nobody — sandbox</a:t>
                      </a:r>
                    </a:p>
                  </a:txBody>
                  <a:tcPr anchor="ctr" marL="128016" marR="91440">
                    <a:solidFill>
                      <a:srgbClr val="FFFFFF"/>
                    </a:solidFill>
                  </a:tcPr>
                </a:tc>
                <a:tc>
                  <a:txBody>
                    <a:bodyPr wrap="square"/>
                    <a:lstStyle/>
                    <a:p>
                      <a:r>
                        <a:rPr sz="1300" b="0">
                          <a:solidFill>
                            <a:srgbClr val="64748B"/>
                          </a:solidFill>
                          <a:latin typeface="Inter"/>
                        </a:rPr>
                        <a:t>Test money only</a:t>
                      </a:r>
                    </a:p>
                  </a:txBody>
                  <a:tcPr anchor="ctr" marL="128016" marR="91440">
                    <a:solidFill>
                      <a:srgbClr val="FFFFFF"/>
                    </a:solidFill>
                  </a:tcPr>
                </a:tc>
              </a:tr>
              <a:tr h="566928">
                <a:tc>
                  <a:txBody>
                    <a:bodyPr wrap="square"/>
                    <a:lstStyle/>
                    <a:p>
                      <a:r>
                        <a:rPr sz="1300" b="1">
                          <a:solidFill>
                            <a:srgbClr val="1E293B"/>
                          </a:solidFill>
                          <a:latin typeface="Inter"/>
                        </a:rPr>
                        <a:t>P1 · Pilot</a:t>
                      </a:r>
                    </a:p>
                  </a:txBody>
                  <a:tcPr anchor="ctr" marL="128016" marR="91440">
                    <a:solidFill>
                      <a:srgbClr val="FFFFFF"/>
                    </a:solidFill>
                  </a:tcPr>
                </a:tc>
                <a:tc>
                  <a:txBody>
                    <a:bodyPr wrap="square"/>
                    <a:lstStyle/>
                    <a:p>
                      <a:r>
                        <a:rPr sz="1300" b="0">
                          <a:solidFill>
                            <a:srgbClr val="64748B"/>
                          </a:solidFill>
                          <a:latin typeface="Inter"/>
                        </a:rPr>
                        <a:t>Aggregator settlement</a:t>
                      </a:r>
                    </a:p>
                  </a:txBody>
                  <a:tcPr anchor="ctr" marL="128016" marR="91440">
                    <a:solidFill>
                      <a:srgbClr val="FFFFFF"/>
                    </a:solidFill>
                  </a:tcPr>
                </a:tc>
                <a:tc>
                  <a:txBody>
                    <a:bodyPr wrap="square"/>
                    <a:lstStyle/>
                    <a:p>
                      <a:r>
                        <a:rPr sz="1300" b="0">
                          <a:solidFill>
                            <a:srgbClr val="64748B"/>
                          </a:solidFill>
                          <a:latin typeface="Inter"/>
                        </a:rPr>
                        <a:t>Low supervised volume, disclosed to users</a:t>
                      </a:r>
                    </a:p>
                  </a:txBody>
                  <a:tcPr anchor="ctr" marL="128016" marR="91440">
                    <a:solidFill>
                      <a:srgbClr val="FFFFFF"/>
                    </a:solidFill>
                  </a:tcPr>
                </a:tc>
              </a:tr>
              <a:tr h="566928">
                <a:tc>
                  <a:txBody>
                    <a:bodyPr wrap="square"/>
                    <a:lstStyle/>
                    <a:p>
                      <a:r>
                        <a:rPr sz="1300" b="1">
                          <a:solidFill>
                            <a:srgbClr val="1E293B"/>
                          </a:solidFill>
                          <a:latin typeface="Inter"/>
                        </a:rPr>
                        <a:t>P2 · Partner-held</a:t>
                      </a:r>
                    </a:p>
                  </a:txBody>
                  <a:tcPr anchor="ctr" marL="128016" marR="91440">
                    <a:solidFill>
                      <a:srgbClr val="FFFFFF"/>
                    </a:solidFill>
                  </a:tcPr>
                </a:tc>
                <a:tc>
                  <a:txBody>
                    <a:bodyPr wrap="square"/>
                    <a:lstStyle/>
                    <a:p>
                      <a:r>
                        <a:rPr sz="1300" b="0">
                          <a:solidFill>
                            <a:srgbClr val="64748B"/>
                          </a:solidFill>
                          <a:latin typeface="Inter"/>
                        </a:rPr>
                        <a:t>Licensed bank / EPSP trust account  ← THE REAL LAUNCH</a:t>
                      </a:r>
                    </a:p>
                  </a:txBody>
                  <a:tcPr anchor="ctr" marL="128016" marR="91440">
                    <a:solidFill>
                      <a:srgbClr val="FFFFFF"/>
                    </a:solidFill>
                  </a:tcPr>
                </a:tc>
                <a:tc>
                  <a:txBody>
                    <a:bodyPr wrap="square"/>
                    <a:lstStyle/>
                    <a:p>
                      <a:r>
                        <a:rPr sz="1300" b="0">
                          <a:solidFill>
                            <a:srgbClr val="64748B"/>
                          </a:solidFill>
                          <a:latin typeface="Inter"/>
                        </a:rPr>
                        <a:t>Compliant at scale</a:t>
                      </a:r>
                    </a:p>
                  </a:txBody>
                  <a:tcPr anchor="ctr" marL="128016" marR="91440">
                    <a:solidFill>
                      <a:srgbClr val="FFFFFF"/>
                    </a:solidFill>
                  </a:tcPr>
                </a:tc>
              </a:tr>
              <a:tr h="566928">
                <a:tc>
                  <a:txBody>
                    <a:bodyPr wrap="square"/>
                    <a:lstStyle/>
                    <a:p>
                      <a:r>
                        <a:rPr sz="1300" b="1">
                          <a:solidFill>
                            <a:srgbClr val="1E293B"/>
                          </a:solidFill>
                          <a:latin typeface="Inter"/>
                        </a:rPr>
                        <a:t>P3 · Own licence</a:t>
                      </a:r>
                    </a:p>
                  </a:txBody>
                  <a:tcPr anchor="ctr" marL="128016" marR="91440">
                    <a:solidFill>
                      <a:srgbClr val="FFFFFF"/>
                    </a:solidFill>
                  </a:tcPr>
                </a:tc>
                <a:tc>
                  <a:txBody>
                    <a:bodyPr wrap="square"/>
                    <a:lstStyle/>
                    <a:p>
                      <a:r>
                        <a:rPr sz="1300" b="0">
                          <a:solidFill>
                            <a:srgbClr val="64748B"/>
                          </a:solidFill>
                          <a:latin typeface="Inter"/>
                        </a:rPr>
                        <a:t>Croe itself</a:t>
                      </a:r>
                    </a:p>
                  </a:txBody>
                  <a:tcPr anchor="ctr" marL="128016" marR="91440">
                    <a:solidFill>
                      <a:srgbClr val="FFFFFF"/>
                    </a:solidFill>
                  </a:tcPr>
                </a:tc>
                <a:tc>
                  <a:txBody>
                    <a:bodyPr wrap="square"/>
                    <a:lstStyle/>
                    <a:p>
                      <a:r>
                        <a:rPr sz="1300" b="0">
                          <a:solidFill>
                            <a:srgbClr val="64748B"/>
                          </a:solidFill>
                          <a:latin typeface="Inter"/>
                        </a:rPr>
                        <a:t>Only if volume ever justifies it</a:t>
                      </a:r>
                    </a:p>
                  </a:txBody>
                  <a:tcPr anchor="ctr" marL="128016" marR="91440">
                    <a:solidFill>
                      <a:srgbClr val="FFFFFF"/>
                    </a:solidFill>
                  </a:tcPr>
                </a:tc>
              </a:tr>
            </a:tbl>
          </a:graphicData>
        </a:graphic>
      </p:graphicFrame>
      <p:sp>
        <p:nvSpPr>
          <p:cNvPr id="6" name="Rounded Rectangle 5"/>
          <p:cNvSpPr/>
          <p:nvPr/>
        </p:nvSpPr>
        <p:spPr>
          <a:xfrm>
            <a:off x="777240" y="5486400"/>
            <a:ext cx="10634472" cy="731520"/>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1E293B"/>
                </a:solidFill>
                <a:latin typeface="Inter"/>
              </a:rPr>
              <a:t>The code already abstracts this.</a:t>
            </a:r>
            <a:r>
              <a:rPr sz="1500" b="0">
                <a:solidFill>
                  <a:srgbClr val="1E40AF"/>
                </a:solidFill>
                <a:latin typeface="Inter"/>
              </a:rPr>
              <a:t> P1 to P2 is a configuration change, not a rewrite.</a:t>
            </a:r>
          </a:p>
        </p:txBody>
      </p:sp>
      <p:sp>
        <p:nvSpPr>
          <p:cNvPr id="7" name="TextBox 6"/>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8" name="TextBox 7"/>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DISPUTES</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Escrow only works if disputes resolve fairly and cheaply.</a:t>
            </a:r>
          </a:p>
        </p:txBody>
      </p:sp>
      <p:sp>
        <p:nvSpPr>
          <p:cNvPr id="5" name="Rounded Rectangle 4"/>
          <p:cNvSpPr/>
          <p:nvPr/>
        </p:nvSpPr>
        <p:spPr>
          <a:xfrm>
            <a:off x="777240" y="2286000"/>
            <a:ext cx="3438144" cy="219456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r>
              <a:rPr sz="1100" b="1">
                <a:solidFill>
                  <a:srgbClr val="2563EB"/>
                </a:solidFill>
                <a:latin typeface="Inter"/>
              </a:rPr>
              <a:t>TIER 1</a:t>
            </a:r>
          </a:p>
          <a:p>
            <a:pPr>
              <a:spcBef>
                <a:spcPts val="400"/>
              </a:spcBef>
            </a:pPr>
            <a:r>
              <a:rPr sz="1550" b="1">
                <a:solidFill>
                  <a:srgbClr val="1E293B"/>
                </a:solidFill>
                <a:latin typeface="Inter"/>
              </a:rPr>
              <a:t>Forensic evidence</a:t>
            </a:r>
          </a:p>
          <a:p>
            <a:pPr>
              <a:spcBef>
                <a:spcPts val="400"/>
              </a:spcBef>
            </a:pPr>
            <a:r>
              <a:rPr sz="1200" b="0">
                <a:solidFill>
                  <a:srgbClr val="64748B"/>
                </a:solidFill>
                <a:latin typeface="Inter"/>
              </a:rPr>
              <a:t>SHA-256 media hashing catches recycled scam photos. Immutable audit trail.</a:t>
            </a:r>
          </a:p>
        </p:txBody>
      </p:sp>
      <p:sp>
        <p:nvSpPr>
          <p:cNvPr id="6" name="Rounded Rectangle 5"/>
          <p:cNvSpPr/>
          <p:nvPr/>
        </p:nvSpPr>
        <p:spPr>
          <a:xfrm>
            <a:off x="4370832" y="2286000"/>
            <a:ext cx="3438144" cy="219456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r>
              <a:rPr sz="1100" b="1">
                <a:solidFill>
                  <a:srgbClr val="2563EB"/>
                </a:solidFill>
                <a:latin typeface="Inter"/>
              </a:rPr>
              <a:t>TIER 2</a:t>
            </a:r>
          </a:p>
          <a:p>
            <a:pPr>
              <a:spcBef>
                <a:spcPts val="400"/>
              </a:spcBef>
            </a:pPr>
            <a:r>
              <a:rPr sz="1550" b="1">
                <a:solidFill>
                  <a:srgbClr val="1E293B"/>
                </a:solidFill>
                <a:latin typeface="Inter"/>
              </a:rPr>
              <a:t>Deterministic heuristics</a:t>
            </a:r>
          </a:p>
          <a:p>
            <a:pPr>
              <a:spcBef>
                <a:spcPts val="400"/>
              </a:spcBef>
            </a:pPr>
            <a:r>
              <a:rPr sz="1200" b="0">
                <a:solidFill>
                  <a:srgbClr val="64748B"/>
                </a:solidFill>
                <a:latin typeface="Inter"/>
              </a:rPr>
              <a:t>Sub-second SQL tripwires for velocity fraud and Sybil attacks.</a:t>
            </a:r>
          </a:p>
        </p:txBody>
      </p:sp>
      <p:sp>
        <p:nvSpPr>
          <p:cNvPr id="7" name="Rounded Rectangle 6"/>
          <p:cNvSpPr/>
          <p:nvPr/>
        </p:nvSpPr>
        <p:spPr>
          <a:xfrm>
            <a:off x="7964424" y="2286000"/>
            <a:ext cx="3438144" cy="219456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r>
              <a:rPr sz="1100" b="1">
                <a:solidFill>
                  <a:srgbClr val="2563EB"/>
                </a:solidFill>
                <a:latin typeface="Inter"/>
              </a:rPr>
              <a:t>TIER 3</a:t>
            </a:r>
          </a:p>
          <a:p>
            <a:pPr>
              <a:spcBef>
                <a:spcPts val="400"/>
              </a:spcBef>
            </a:pPr>
            <a:r>
              <a:rPr sz="1550" b="1">
                <a:solidFill>
                  <a:srgbClr val="1E293B"/>
                </a:solidFill>
                <a:latin typeface="Inter"/>
              </a:rPr>
              <a:t>Self-hosted AI arbitrator</a:t>
            </a:r>
          </a:p>
          <a:p>
            <a:pPr>
              <a:spcBef>
                <a:spcPts val="400"/>
              </a:spcBef>
            </a:pPr>
            <a:r>
              <a:rPr sz="1200" b="0">
                <a:solidFill>
                  <a:srgbClr val="64748B"/>
                </a:solidFill>
                <a:latin typeface="Inter"/>
              </a:rPr>
              <a:t>Structured decisions; escalates only genuinely ambiguous cases to a human.</a:t>
            </a:r>
          </a:p>
        </p:txBody>
      </p:sp>
      <p:sp>
        <p:nvSpPr>
          <p:cNvPr id="8" name="Rounded Rectangle 7"/>
          <p:cNvSpPr/>
          <p:nvPr/>
        </p:nvSpPr>
        <p:spPr>
          <a:xfrm>
            <a:off x="777240" y="4892040"/>
            <a:ext cx="10634472" cy="731520"/>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1E293B"/>
                </a:solidFill>
                <a:latin typeface="Inter"/>
              </a:rPr>
              <a:t>Customer data never leaves our infrastructure.</a:t>
            </a:r>
            <a:r>
              <a:rPr sz="1500" b="0">
                <a:solidFill>
                  <a:srgbClr val="1E40AF"/>
                </a:solidFill>
                <a:latin typeface="Inter"/>
              </a:rPr>
              <a:t> Open-weights model, self-hosted.</a:t>
            </a:r>
          </a:p>
        </p:txBody>
      </p:sp>
      <p:sp>
        <p:nvSpPr>
          <p:cNvPr id="9" name="TextBox 8"/>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10" name="TextBox 9"/>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BUSINESS MODEL</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We earn only when a trade completes happily.</a:t>
            </a:r>
          </a:p>
        </p:txBody>
      </p:sp>
      <p:sp>
        <p:nvSpPr>
          <p:cNvPr id="5" name="TextBox 4"/>
          <p:cNvSpPr txBox="1"/>
          <p:nvPr/>
        </p:nvSpPr>
        <p:spPr>
          <a:xfrm>
            <a:off x="777240" y="2377440"/>
            <a:ext cx="5120640" cy="3108960"/>
          </a:xfrm>
          <a:prstGeom prst="rect">
            <a:avLst/>
          </a:prstGeom>
          <a:noFill/>
        </p:spPr>
        <p:txBody>
          <a:bodyPr wrap="square" lIns="0" rIns="0" tIns="0" bIns="0">
            <a:spAutoFit/>
          </a:bodyPr>
          <a:lstStyle/>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1">
                <a:solidFill>
                  <a:srgbClr val="1E293B"/>
                </a:solidFill>
                <a:latin typeface="Inter"/>
              </a:rPr>
              <a:t>[FILL: 1.5–2.5]% commission</a:t>
            </a:r>
            <a:r>
              <a:rPr sz="1500" b="0">
                <a:solidFill>
                  <a:srgbClr val="64748B"/>
                </a:solidFill>
                <a:latin typeface="Inter"/>
              </a:rPr>
              <a:t> on each released transaction</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1">
                <a:solidFill>
                  <a:srgbClr val="1E293B"/>
                </a:solidFill>
                <a:latin typeface="Inter"/>
              </a:rPr>
              <a:t>No commission on refunds.</a:t>
            </a:r>
            <a:r>
              <a:rPr sz="1500" b="0">
                <a:solidFill>
                  <a:srgbClr val="64748B"/>
                </a:solidFill>
                <a:latin typeface="Inter"/>
              </a:rPr>
              <a:t> Buyer made whole — we earn nothing.</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1">
                <a:solidFill>
                  <a:srgbClr val="1E293B"/>
                </a:solidFill>
                <a:latin typeface="Inter"/>
              </a:rPr>
              <a:t>Vendor-pays by default,</a:t>
            </a:r>
            <a:r>
              <a:rPr sz="1500" b="0">
                <a:solidFill>
                  <a:srgbClr val="64748B"/>
                </a:solidFill>
                <a:latin typeface="Inter"/>
              </a:rPr>
              <a:t> configurable per market.</a:t>
            </a:r>
          </a:p>
          <a:p>
            <a:pPr algn="l">
              <a:spcBef>
                <a:spcPts val="0"/>
              </a:spcBef>
              <a:spcAft>
                <a:spcPts val="1200"/>
              </a:spcAft>
            </a:pPr>
            <a:r>
              <a:rPr sz="1500" b="0">
                <a:solidFill>
                  <a:srgbClr val="64748B"/>
                </a:solidFill>
                <a:latin typeface="Inter"/>
              </a:rPr>
              <a:t/>
            </a:r>
            <a:r>
              <a:rPr sz="1500" b="1">
                <a:solidFill>
                  <a:srgbClr val="2563EB"/>
                </a:solidFill>
                <a:latin typeface="Inter"/>
              </a:rPr>
              <a:t>•  </a:t>
            </a:r>
          </a:p>
          <a:p>
            <a:pPr algn="l">
              <a:spcBef>
                <a:spcPts val="0"/>
              </a:spcBef>
              <a:spcAft>
                <a:spcPts val="1200"/>
              </a:spcAft>
            </a:pPr>
            <a:r>
              <a:rPr sz="1500" b="0">
                <a:solidFill>
                  <a:srgbClr val="64748B"/>
                </a:solidFill>
                <a:latin typeface="Inter"/>
              </a:rPr>
              <a:t/>
            </a:r>
            <a:r>
              <a:rPr sz="1500" b="1">
                <a:solidFill>
                  <a:srgbClr val="2563EB"/>
                </a:solidFill>
                <a:latin typeface="Inter"/>
              </a:rPr>
              <a:t>•  </a:t>
            </a:r>
            <a:r>
              <a:rPr sz="1500" b="0">
                <a:solidFill>
                  <a:srgbClr val="64748B"/>
                </a:solidFill>
                <a:latin typeface="Inter"/>
              </a:rPr>
              <a:t>*Figures pending confirmed aggregator pricing.</a:t>
            </a:r>
          </a:p>
        </p:txBody>
      </p:sp>
      <p:sp>
        <p:nvSpPr>
          <p:cNvPr id="6" name="Rounded Rectangle 5"/>
          <p:cNvSpPr/>
          <p:nvPr/>
        </p:nvSpPr>
        <p:spPr>
          <a:xfrm>
            <a:off x="6309360" y="2286000"/>
            <a:ext cx="5074920" cy="265176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01168"/>
          <a:lstStyle/>
          <a:p>
            <a:pPr algn="ctr"/>
            <a:r>
              <a:rPr sz="1100" b="1">
                <a:solidFill>
                  <a:srgbClr val="64748B"/>
                </a:solidFill>
                <a:latin typeface="Inter"/>
              </a:rPr>
              <a:t>ON A GHS 450 ORDER*</a:t>
            </a:r>
          </a:p>
          <a:p>
            <a:pPr>
              <a:spcBef>
                <a:spcPts val="1000"/>
              </a:spcBef>
            </a:pPr>
            <a:r>
              <a:rPr sz="1300" b="0">
                <a:solidFill>
                  <a:srgbClr val="64748B"/>
                </a:solidFill>
                <a:latin typeface="Inter"/>
              </a:rPr>
              <a:t>Commission (2.0%)   </a:t>
            </a:r>
            <a:r>
              <a:rPr sz="1300" b="1">
                <a:solidFill>
                  <a:srgbClr val="2563EB"/>
                </a:solidFill>
                <a:latin typeface="Inter"/>
              </a:rPr>
              <a:t>≈ GHS 9.00</a:t>
            </a:r>
          </a:p>
          <a:p>
            <a:pPr>
              <a:spcBef>
                <a:spcPts val="1000"/>
              </a:spcBef>
            </a:pPr>
            <a:r>
              <a:rPr sz="1300" b="0">
                <a:solidFill>
                  <a:srgbClr val="64748B"/>
                </a:solidFill>
                <a:latin typeface="Inter"/>
              </a:rPr>
              <a:t>Net to Croe, after disbursement fees   </a:t>
            </a:r>
            <a:r>
              <a:rPr sz="1300" b="1">
                <a:solidFill>
                  <a:srgbClr val="2563EB"/>
                </a:solidFill>
                <a:latin typeface="Inter"/>
              </a:rPr>
              <a:t>≈ GHS 8.00</a:t>
            </a:r>
          </a:p>
          <a:p>
            <a:pPr>
              <a:spcBef>
                <a:spcPts val="1000"/>
              </a:spcBef>
            </a:pPr>
            <a:r>
              <a:rPr sz="1300" b="1">
                <a:solidFill>
                  <a:srgbClr val="64748B"/>
                </a:solidFill>
                <a:latin typeface="Inter"/>
              </a:rPr>
              <a:t>Break-even   </a:t>
            </a:r>
            <a:r>
              <a:rPr sz="1300" b="1">
                <a:solidFill>
                  <a:srgbClr val="2563EB"/>
                </a:solidFill>
                <a:latin typeface="Inter"/>
              </a:rPr>
              <a:t>≈ 63 released transactions / month</a:t>
            </a:r>
          </a:p>
        </p:txBody>
      </p:sp>
      <p:sp>
        <p:nvSpPr>
          <p:cNvPr id="7" name="Rounded Rectangle 6"/>
          <p:cNvSpPr/>
          <p:nvPr/>
        </p:nvSpPr>
        <p:spPr>
          <a:xfrm>
            <a:off x="6309360" y="5257800"/>
            <a:ext cx="5074920" cy="914400"/>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250" b="0">
                <a:solidFill>
                  <a:srgbClr val="1E40AF"/>
                </a:solidFill>
                <a:latin typeface="Inter"/>
              </a:rPr>
              <a:t>Lever, if pushed on margin: </a:t>
            </a:r>
            <a:r>
              <a:rPr sz="1250" b="1">
                <a:solidFill>
                  <a:srgbClr val="1E293B"/>
                </a:solidFill>
                <a:latin typeface="Inter"/>
              </a:rPr>
              <a:t>average ticket size.</a:t>
            </a:r>
            <a:r>
              <a:rPr sz="1250" b="0">
                <a:solidFill>
                  <a:srgbClr val="1E40AF"/>
                </a:solidFill>
                <a:latin typeface="Inter"/>
              </a:rPr>
              <a:t> High-ticket segments earn roughly 3x per transaction.</a:t>
            </a:r>
          </a:p>
        </p:txBody>
      </p:sp>
      <p:sp>
        <p:nvSpPr>
          <p:cNvPr id="8" name="TextBox 7"/>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9" name="TextBox 8"/>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GO TO MARKET</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Vendors bring their own buyers.</a:t>
            </a:r>
          </a:p>
        </p:txBody>
      </p:sp>
      <p:sp>
        <p:nvSpPr>
          <p:cNvPr id="5" name="TextBox 4"/>
          <p:cNvSpPr txBox="1"/>
          <p:nvPr/>
        </p:nvSpPr>
        <p:spPr>
          <a:xfrm>
            <a:off x="777240" y="2286000"/>
            <a:ext cx="10424160" cy="640080"/>
          </a:xfrm>
          <a:prstGeom prst="rect">
            <a:avLst/>
          </a:prstGeom>
          <a:noFill/>
        </p:spPr>
        <p:txBody>
          <a:bodyPr wrap="square" lIns="0" rIns="0" tIns="0" bIns="0">
            <a:spAutoFit/>
          </a:bodyPr>
          <a:lstStyle/>
          <a:p>
            <a:pPr algn="l">
              <a:spcBef>
                <a:spcPts val="0"/>
              </a:spcBef>
              <a:spcAft>
                <a:spcPts val="0"/>
              </a:spcAft>
            </a:pPr>
            <a:r>
              <a:rPr sz="1600" b="0">
                <a:solidFill>
                  <a:srgbClr val="64748B"/>
                </a:solidFill>
                <a:latin typeface="Inter"/>
              </a:rPr>
              <a:t/>
            </a:r>
            <a:r>
              <a:rPr sz="1600" b="1">
                <a:solidFill>
                  <a:srgbClr val="1E293B"/>
                </a:solidFill>
                <a:latin typeface="Inter"/>
              </a:rPr>
              <a:t>Escrow has no value with one side only</a:t>
            </a:r>
            <a:r>
              <a:rPr sz="1600" b="0">
                <a:solidFill>
                  <a:srgbClr val="64748B"/>
                </a:solidFill>
                <a:latin typeface="Inter"/>
              </a:rPr>
              <a:t> — so we recruit vendors, and vendors impose Croe on their buyers.</a:t>
            </a:r>
          </a:p>
        </p:txBody>
      </p:sp>
      <p:sp>
        <p:nvSpPr>
          <p:cNvPr id="6" name="TextBox 5"/>
          <p:cNvSpPr txBox="1"/>
          <p:nvPr/>
        </p:nvSpPr>
        <p:spPr>
          <a:xfrm>
            <a:off x="777240" y="3200400"/>
            <a:ext cx="2011680" cy="457200"/>
          </a:xfrm>
          <a:prstGeom prst="rect">
            <a:avLst/>
          </a:prstGeom>
          <a:noFill/>
        </p:spPr>
        <p:txBody>
          <a:bodyPr wrap="square" lIns="0" rIns="0" tIns="0" bIns="0">
            <a:spAutoFit/>
          </a:bodyPr>
          <a:lstStyle/>
          <a:p>
            <a:pPr algn="l">
              <a:spcBef>
                <a:spcPts val="0"/>
              </a:spcBef>
              <a:spcAft>
                <a:spcPts val="0"/>
              </a:spcAft>
            </a:pPr>
            <a:r>
              <a:rPr sz="1100" b="1">
                <a:solidFill>
                  <a:srgbClr val="64748B"/>
                </a:solidFill>
                <a:latin typeface="Inter"/>
              </a:rPr>
              <a:t>LAUNCH SEGMENT:</a:t>
            </a:r>
          </a:p>
        </p:txBody>
      </p:sp>
      <p:sp>
        <p:nvSpPr>
          <p:cNvPr id="7" name="Rounded Rectangle 6"/>
          <p:cNvSpPr/>
          <p:nvPr/>
        </p:nvSpPr>
        <p:spPr>
          <a:xfrm>
            <a:off x="2834640" y="3127248"/>
            <a:ext cx="1554480" cy="438912"/>
          </a:xfrm>
          <a:prstGeom prst="roundRect">
            <a:avLst>
              <a:gd name="adj" fmla="val 50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40AF"/>
                </a:solidFill>
                <a:latin typeface="Inter"/>
              </a:rPr>
              <a:t>Electronics</a:t>
            </a:r>
          </a:p>
        </p:txBody>
      </p:sp>
      <p:sp>
        <p:nvSpPr>
          <p:cNvPr id="8" name="Rounded Rectangle 7"/>
          <p:cNvSpPr/>
          <p:nvPr/>
        </p:nvSpPr>
        <p:spPr>
          <a:xfrm>
            <a:off x="4526280" y="3127248"/>
            <a:ext cx="1554480" cy="438912"/>
          </a:xfrm>
          <a:prstGeom prst="roundRect">
            <a:avLst>
              <a:gd name="adj" fmla="val 50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40AF"/>
                </a:solidFill>
                <a:latin typeface="Inter"/>
              </a:rPr>
              <a:t>Sneakers</a:t>
            </a:r>
          </a:p>
        </p:txBody>
      </p:sp>
      <p:sp>
        <p:nvSpPr>
          <p:cNvPr id="9" name="Rounded Rectangle 8"/>
          <p:cNvSpPr/>
          <p:nvPr/>
        </p:nvSpPr>
        <p:spPr>
          <a:xfrm>
            <a:off x="6217920" y="3127248"/>
            <a:ext cx="1554480" cy="438912"/>
          </a:xfrm>
          <a:prstGeom prst="roundRect">
            <a:avLst>
              <a:gd name="adj" fmla="val 50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E40AF"/>
                </a:solidFill>
                <a:latin typeface="Inter"/>
              </a:rPr>
              <a:t>Thrift</a:t>
            </a:r>
          </a:p>
        </p:txBody>
      </p:sp>
      <p:sp>
        <p:nvSpPr>
          <p:cNvPr id="10" name="TextBox 9"/>
          <p:cNvSpPr txBox="1"/>
          <p:nvPr/>
        </p:nvSpPr>
        <p:spPr>
          <a:xfrm>
            <a:off x="8092440" y="3200400"/>
            <a:ext cx="3383280" cy="457200"/>
          </a:xfrm>
          <a:prstGeom prst="rect">
            <a:avLst/>
          </a:prstGeom>
          <a:noFill/>
        </p:spPr>
        <p:txBody>
          <a:bodyPr wrap="square" lIns="0" rIns="0" tIns="0" bIns="0">
            <a:spAutoFit/>
          </a:bodyPr>
          <a:lstStyle/>
          <a:p>
            <a:pPr algn="l">
              <a:spcBef>
                <a:spcPts val="0"/>
              </a:spcBef>
              <a:spcAft>
                <a:spcPts val="0"/>
              </a:spcAft>
            </a:pPr>
            <a:r>
              <a:rPr sz="1100" b="0">
                <a:solidFill>
                  <a:srgbClr val="64748B"/>
                </a:solidFill>
                <a:latin typeface="Inter"/>
              </a:rPr>
              <a:t>high ticket, high fear, where 2% is worth collecting</a:t>
            </a:r>
          </a:p>
        </p:txBody>
      </p:sp>
      <p:sp>
        <p:nvSpPr>
          <p:cNvPr id="11" name="TextBox 10"/>
          <p:cNvSpPr txBox="1"/>
          <p:nvPr/>
        </p:nvSpPr>
        <p:spPr>
          <a:xfrm>
            <a:off x="777240" y="4297680"/>
            <a:ext cx="9875520" cy="1188720"/>
          </a:xfrm>
          <a:prstGeom prst="rect">
            <a:avLst/>
          </a:prstGeom>
          <a:noFill/>
        </p:spPr>
        <p:txBody>
          <a:bodyPr wrap="square" lIns="0" rIns="0" tIns="0" bIns="0">
            <a:spAutoFit/>
          </a:bodyPr>
          <a:lstStyle/>
          <a:p>
            <a:r>
              <a:rPr sz="1500" b="0">
                <a:solidFill>
                  <a:srgbClr val="64748B"/>
                </a:solidFill>
                <a:latin typeface="Inter"/>
              </a:rPr>
              <a:t>The pitch to a vendor is conversion, not safety:</a:t>
            </a:r>
          </a:p>
          <a:p>
            <a:pPr>
              <a:spcBef>
                <a:spcPts val="800"/>
              </a:spcBef>
            </a:pPr>
            <a:r>
              <a:rPr sz="2100" b="1">
                <a:solidFill>
                  <a:srgbClr val="1E293B"/>
                </a:solidFill>
                <a:latin typeface="Inter"/>
              </a:rPr>
              <a:t>“You will close the sales you're currently losing.”</a:t>
            </a:r>
          </a:p>
        </p:txBody>
      </p:sp>
      <p:sp>
        <p:nvSpPr>
          <p:cNvPr id="12" name="TextBox 11"/>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13" name="TextBox 12"/>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TRACTION &amp; VALIDATION PLAN</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Pre-launch. Here's what we're proving, and when.</a:t>
            </a:r>
          </a:p>
        </p:txBody>
      </p:sp>
      <p:sp>
        <p:nvSpPr>
          <p:cNvPr id="5" name="TextBox 4"/>
          <p:cNvSpPr txBox="1"/>
          <p:nvPr/>
        </p:nvSpPr>
        <p:spPr>
          <a:xfrm>
            <a:off x="777240" y="2194560"/>
            <a:ext cx="10424160" cy="548640"/>
          </a:xfrm>
          <a:prstGeom prst="rect">
            <a:avLst/>
          </a:prstGeom>
          <a:noFill/>
        </p:spPr>
        <p:txBody>
          <a:bodyPr wrap="square" lIns="0" rIns="0" tIns="0" bIns="0">
            <a:spAutoFit/>
          </a:bodyPr>
          <a:lstStyle/>
          <a:p>
            <a:pPr algn="l">
              <a:spcBef>
                <a:spcPts val="0"/>
              </a:spcBef>
              <a:spcAft>
                <a:spcPts val="0"/>
              </a:spcAft>
            </a:pPr>
            <a:r>
              <a:rPr sz="1400" b="0">
                <a:solidFill>
                  <a:srgbClr val="64748B"/>
                </a:solidFill>
                <a:latin typeface="Inter"/>
              </a:rPr>
              <a:t/>
            </a:r>
            <a:r>
              <a:rPr sz="1400" b="1">
                <a:solidFill>
                  <a:srgbClr val="1E293B"/>
                </a:solidFill>
                <a:latin typeface="Inter"/>
              </a:rPr>
              <a:t>Now:</a:t>
            </a:r>
            <a:r>
              <a:rPr sz="1400" b="0">
                <a:solidFill>
                  <a:srgbClr val="64748B"/>
                </a:solidFill>
                <a:latin typeface="Inter"/>
              </a:rPr>
              <a:t> product complete and tested · </a:t>
            </a:r>
            <a:r>
              <a:rPr sz="1300" b="1">
                <a:solidFill>
                  <a:srgbClr val="92400E"/>
                </a:solidFill>
                <a:latin typeface="Inter"/>
              </a:rPr>
              <a:t>[FILL: N]</a:t>
            </a:r>
            <a:r>
              <a:rPr sz="1400" b="0">
                <a:solidFill>
                  <a:srgbClr val="64748B"/>
                </a:solidFill>
                <a:latin typeface="Inter"/>
              </a:rPr>
              <a:t> vendors in pilot recruitment · entity formation and licensed-custody arrangement in progress.</a:t>
            </a:r>
          </a:p>
        </p:txBody>
      </p:sp>
      <p:graphicFrame>
        <p:nvGraphicFramePr>
          <p:cNvPr id="6" name="Table 5"/>
          <p:cNvGraphicFramePr>
            <a:graphicFrameLocks noGrp="1"/>
          </p:cNvGraphicFramePr>
          <p:nvPr/>
        </p:nvGraphicFramePr>
        <p:xfrm>
          <a:off x="777240" y="2971800"/>
          <a:ext cx="10634471" cy="2505456"/>
        </p:xfrm>
        <a:graphic>
          <a:graphicData uri="http://schemas.openxmlformats.org/drawingml/2006/table">
            <a:tbl>
              <a:tblPr>
                <a:tableStyleId>{5C22544A-7EE6-4342-B048-85BDC9FD1C3A}</a:tableStyleId>
              </a:tblPr>
              <a:tblGrid>
                <a:gridCol w="4891857"/>
                <a:gridCol w="5742614"/>
              </a:tblGrid>
              <a:tr h="384048">
                <a:tc>
                  <a:txBody>
                    <a:bodyPr wrap="square"/>
                    <a:lstStyle/>
                    <a:p>
                      <a:r>
                        <a:rPr sz="1100" b="1">
                          <a:solidFill>
                            <a:srgbClr val="1E40AF"/>
                          </a:solidFill>
                          <a:latin typeface="Inter"/>
                        </a:rPr>
                        <a:t>60-DAY PILOT MEASURES</a:t>
                      </a:r>
                    </a:p>
                  </a:txBody>
                  <a:tcPr anchor="ctr" marL="128016" marR="91440">
                    <a:solidFill>
                      <a:srgbClr val="EFF6FF"/>
                    </a:solidFill>
                  </a:tcPr>
                </a:tc>
                <a:tc>
                  <a:txBody>
                    <a:bodyPr wrap="square"/>
                    <a:lstStyle/>
                    <a:p>
                      <a:r>
                        <a:rPr sz="1100" b="1">
                          <a:solidFill>
                            <a:srgbClr val="1E40AF"/>
                          </a:solidFill>
                          <a:latin typeface="Inter"/>
                        </a:rPr>
                        <a:t>WHY IT MATTERS</a:t>
                      </a:r>
                    </a:p>
                  </a:txBody>
                  <a:tcPr anchor="ctr" marL="128016" marR="91440">
                    <a:solidFill>
                      <a:srgbClr val="EFF6FF"/>
                    </a:solidFill>
                  </a:tcPr>
                </a:tc>
              </a:tr>
              <a:tr h="530352">
                <a:tc>
                  <a:txBody>
                    <a:bodyPr wrap="square"/>
                    <a:lstStyle/>
                    <a:p>
                      <a:r>
                        <a:rPr sz="1300" b="1">
                          <a:solidFill>
                            <a:srgbClr val="1E293B"/>
                          </a:solidFill>
                          <a:latin typeface="Inter"/>
                        </a:rPr>
                        <a:t>Released transactions / month</a:t>
                      </a:r>
                    </a:p>
                  </a:txBody>
                  <a:tcPr anchor="ctr" marL="128016" marR="91440">
                    <a:solidFill>
                      <a:srgbClr val="FFFFFF"/>
                    </a:solidFill>
                  </a:tcPr>
                </a:tc>
                <a:tc>
                  <a:txBody>
                    <a:bodyPr wrap="square"/>
                    <a:lstStyle/>
                    <a:p>
                      <a:r>
                        <a:rPr sz="1300" b="0">
                          <a:solidFill>
                            <a:srgbClr val="64748B"/>
                          </a:solidFill>
                          <a:latin typeface="Inter"/>
                        </a:rPr>
                        <a:t>Demand is real</a:t>
                      </a:r>
                    </a:p>
                  </a:txBody>
                  <a:tcPr anchor="ctr" marL="128016" marR="91440">
                    <a:solidFill>
                      <a:srgbClr val="FFFFFF"/>
                    </a:solidFill>
                  </a:tcPr>
                </a:tc>
              </a:tr>
              <a:tr h="530352">
                <a:tc>
                  <a:txBody>
                    <a:bodyPr wrap="square"/>
                    <a:lstStyle/>
                    <a:p>
                      <a:r>
                        <a:rPr sz="1300" b="1">
                          <a:solidFill>
                            <a:srgbClr val="1E293B"/>
                          </a:solidFill>
                          <a:latin typeface="Inter"/>
                        </a:rPr>
                        <a:t>Net margin per transaction</a:t>
                      </a:r>
                    </a:p>
                  </a:txBody>
                  <a:tcPr anchor="ctr" marL="128016" marR="91440">
                    <a:solidFill>
                      <a:srgbClr val="FFFFFF"/>
                    </a:solidFill>
                  </a:tcPr>
                </a:tc>
                <a:tc>
                  <a:txBody>
                    <a:bodyPr wrap="square"/>
                    <a:lstStyle/>
                    <a:p>
                      <a:r>
                        <a:rPr sz="1300" b="0">
                          <a:solidFill>
                            <a:srgbClr val="64748B"/>
                          </a:solidFill>
                          <a:latin typeface="Inter"/>
                        </a:rPr>
                        <a:t>The model holds with real fees</a:t>
                      </a:r>
                    </a:p>
                  </a:txBody>
                  <a:tcPr anchor="ctr" marL="128016" marR="91440">
                    <a:solidFill>
                      <a:srgbClr val="FFFFFF"/>
                    </a:solidFill>
                  </a:tcPr>
                </a:tc>
              </a:tr>
              <a:tr h="530352">
                <a:tc>
                  <a:txBody>
                    <a:bodyPr wrap="square"/>
                    <a:lstStyle/>
                    <a:p>
                      <a:r>
                        <a:rPr sz="1300" b="1">
                          <a:solidFill>
                            <a:srgbClr val="1E293B"/>
                          </a:solidFill>
                          <a:latin typeface="Inter"/>
                        </a:rPr>
                        <a:t>Dispute rate + adjudication accuracy</a:t>
                      </a:r>
                    </a:p>
                  </a:txBody>
                  <a:tcPr anchor="ctr" marL="128016" marR="91440">
                    <a:solidFill>
                      <a:srgbClr val="FFFFFF"/>
                    </a:solidFill>
                  </a:tcPr>
                </a:tc>
                <a:tc>
                  <a:txBody>
                    <a:bodyPr wrap="square"/>
                    <a:lstStyle/>
                    <a:p>
                      <a:r>
                        <a:rPr sz="1300" b="0">
                          <a:solidFill>
                            <a:srgbClr val="64748B"/>
                          </a:solidFill>
                          <a:latin typeface="Inter"/>
                        </a:rPr>
                        <a:t>The hard part works</a:t>
                      </a:r>
                    </a:p>
                  </a:txBody>
                  <a:tcPr anchor="ctr" marL="128016" marR="91440">
                    <a:solidFill>
                      <a:srgbClr val="FFFFFF"/>
                    </a:solidFill>
                  </a:tcPr>
                </a:tc>
              </a:tr>
              <a:tr h="530352">
                <a:tc>
                  <a:txBody>
                    <a:bodyPr wrap="square"/>
                    <a:lstStyle/>
                    <a:p>
                      <a:r>
                        <a:rPr sz="1300" b="1">
                          <a:solidFill>
                            <a:srgbClr val="1E293B"/>
                          </a:solidFill>
                          <a:latin typeface="Inter"/>
                        </a:rPr>
                        <a:t>Vendor retention at day 60</a:t>
                      </a:r>
                    </a:p>
                  </a:txBody>
                  <a:tcPr anchor="ctr" marL="128016" marR="91440">
                    <a:solidFill>
                      <a:srgbClr val="FFFFFF"/>
                    </a:solidFill>
                  </a:tcPr>
                </a:tc>
                <a:tc>
                  <a:txBody>
                    <a:bodyPr wrap="square"/>
                    <a:lstStyle/>
                    <a:p>
                      <a:r>
                        <a:rPr sz="1300" b="0">
                          <a:solidFill>
                            <a:srgbClr val="64748B"/>
                          </a:solidFill>
                          <a:latin typeface="Inter"/>
                        </a:rPr>
                        <a:t>Value, not novelty</a:t>
                      </a:r>
                    </a:p>
                  </a:txBody>
                  <a:tcPr anchor="ctr" marL="128016" marR="91440">
                    <a:solidFill>
                      <a:srgbClr val="FFFFFF"/>
                    </a:solidFill>
                  </a:tcPr>
                </a:tc>
              </a:tr>
            </a:tbl>
          </a:graphicData>
        </a:graphic>
      </p:graphicFrame>
      <p:sp>
        <p:nvSpPr>
          <p:cNvPr id="7" name="TextBox 6"/>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8" name="TextBox 7"/>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THE ASK</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2900" b="1">
                <a:solidFill>
                  <a:srgbClr val="92400E"/>
                </a:solidFill>
                <a:latin typeface="Inter"/>
              </a:rPr>
              <a:t>[FILL: amount]</a:t>
            </a:r>
            <a:r>
              <a:rPr sz="3000" b="0">
                <a:solidFill>
                  <a:srgbClr val="1E293B"/>
                </a:solidFill>
                <a:latin typeface="Inter"/>
              </a:rPr>
              <a:t> to run a supervised pilot on licensed rails.</a:t>
            </a:r>
          </a:p>
        </p:txBody>
      </p:sp>
      <p:graphicFrame>
        <p:nvGraphicFramePr>
          <p:cNvPr id="5" name="Table 4"/>
          <p:cNvGraphicFramePr>
            <a:graphicFrameLocks noGrp="1"/>
          </p:cNvGraphicFramePr>
          <p:nvPr/>
        </p:nvGraphicFramePr>
        <p:xfrm>
          <a:off x="777240" y="2377440"/>
          <a:ext cx="6492240" cy="2651760"/>
        </p:xfrm>
        <a:graphic>
          <a:graphicData uri="http://schemas.openxmlformats.org/drawingml/2006/table">
            <a:tbl>
              <a:tblPr>
                <a:tableStyleId>{5C22544A-7EE6-4342-B048-85BDC9FD1C3A}</a:tableStyleId>
              </a:tblPr>
              <a:tblGrid>
                <a:gridCol w="3246120"/>
                <a:gridCol w="3246120"/>
              </a:tblGrid>
              <a:tr h="384048">
                <a:tc>
                  <a:txBody>
                    <a:bodyPr wrap="square"/>
                    <a:lstStyle/>
                    <a:p>
                      <a:r>
                        <a:rPr sz="1100" b="1">
                          <a:solidFill>
                            <a:srgbClr val="1E40AF"/>
                          </a:solidFill>
                          <a:latin typeface="Inter"/>
                        </a:rPr>
                        <a:t>USE OF FUNDS</a:t>
                      </a:r>
                    </a:p>
                  </a:txBody>
                  <a:tcPr anchor="ctr" marL="128016" marR="91440">
                    <a:solidFill>
                      <a:srgbClr val="EFF6FF"/>
                    </a:solidFill>
                  </a:tcPr>
                </a:tc>
                <a:tc>
                  <a:txBody>
                    <a:bodyPr wrap="square"/>
                    <a:lstStyle/>
                    <a:p>
                      <a:r>
                        <a:rPr sz="1100" b="1">
                          <a:solidFill>
                            <a:srgbClr val="1E40AF"/>
                          </a:solidFill>
                          <a:latin typeface="Inter"/>
                        </a:rPr>
                        <a:t>WHAT IT BUYS</a:t>
                      </a:r>
                    </a:p>
                  </a:txBody>
                  <a:tcPr anchor="ctr" marL="128016" marR="91440">
                    <a:solidFill>
                      <a:srgbClr val="EFF6FF"/>
                    </a:solidFill>
                  </a:tcPr>
                </a:tc>
              </a:tr>
              <a:tr h="566928">
                <a:tc>
                  <a:txBody>
                    <a:bodyPr wrap="square"/>
                    <a:lstStyle/>
                    <a:p>
                      <a:r>
                        <a:rPr sz="1300" b="1">
                          <a:solidFill>
                            <a:srgbClr val="1E293B"/>
                          </a:solidFill>
                          <a:latin typeface="Inter"/>
                        </a:rPr>
                        <a:t>Legal &amp; regulatory setup</a:t>
                      </a:r>
                    </a:p>
                  </a:txBody>
                  <a:tcPr anchor="ctr" marL="128016" marR="91440">
                    <a:solidFill>
                      <a:srgbClr val="FFFFFF"/>
                    </a:solidFill>
                  </a:tcPr>
                </a:tc>
                <a:tc>
                  <a:txBody>
                    <a:bodyPr wrap="square"/>
                    <a:lstStyle/>
                    <a:p>
                      <a:r>
                        <a:rPr sz="1300" b="0">
                          <a:solidFill>
                            <a:srgbClr val="64748B"/>
                          </a:solidFill>
                          <a:latin typeface="Inter"/>
                        </a:rPr>
                        <a:t>Custody structuring, ToS, entity</a:t>
                      </a:r>
                    </a:p>
                  </a:txBody>
                  <a:tcPr anchor="ctr" marL="128016" marR="91440">
                    <a:solidFill>
                      <a:srgbClr val="FFFFFF"/>
                    </a:solidFill>
                  </a:tcPr>
                </a:tc>
              </a:tr>
              <a:tr h="566928">
                <a:tc>
                  <a:txBody>
                    <a:bodyPr wrap="square"/>
                    <a:lstStyle/>
                    <a:p>
                      <a:r>
                        <a:rPr sz="1300" b="1">
                          <a:solidFill>
                            <a:srgbClr val="1E293B"/>
                          </a:solidFill>
                          <a:latin typeface="Inter"/>
                        </a:rPr>
                        <a:t>Licensed custody partner onboarding</a:t>
                      </a:r>
                    </a:p>
                  </a:txBody>
                  <a:tcPr anchor="ctr" marL="128016" marR="91440">
                    <a:solidFill>
                      <a:srgbClr val="FFFFFF"/>
                    </a:solidFill>
                  </a:tcPr>
                </a:tc>
                <a:tc>
                  <a:txBody>
                    <a:bodyPr wrap="square"/>
                    <a:lstStyle/>
                    <a:p>
                      <a:r>
                        <a:rPr sz="1300" b="0">
                          <a:solidFill>
                            <a:srgbClr val="64748B"/>
                          </a:solidFill>
                          <a:latin typeface="Inter"/>
                        </a:rPr>
                        <a:t>The P2 milestone</a:t>
                      </a:r>
                    </a:p>
                  </a:txBody>
                  <a:tcPr anchor="ctr" marL="128016" marR="91440">
                    <a:solidFill>
                      <a:srgbClr val="FFFFFF"/>
                    </a:solidFill>
                  </a:tcPr>
                </a:tc>
              </a:tr>
              <a:tr h="566928">
                <a:tc>
                  <a:txBody>
                    <a:bodyPr wrap="square"/>
                    <a:lstStyle/>
                    <a:p>
                      <a:r>
                        <a:rPr sz="1300" b="1">
                          <a:solidFill>
                            <a:srgbClr val="1E293B"/>
                          </a:solidFill>
                          <a:latin typeface="Inter"/>
                        </a:rPr>
                        <a:t>Security audit</a:t>
                      </a:r>
                    </a:p>
                  </a:txBody>
                  <a:tcPr anchor="ctr" marL="128016" marR="91440">
                    <a:solidFill>
                      <a:srgbClr val="FFFFFF"/>
                    </a:solidFill>
                  </a:tcPr>
                </a:tc>
                <a:tc>
                  <a:txBody>
                    <a:bodyPr wrap="square"/>
                    <a:lstStyle/>
                    <a:p>
                      <a:r>
                        <a:rPr sz="1300" b="0">
                          <a:solidFill>
                            <a:srgbClr val="64748B"/>
                          </a:solidFill>
                          <a:latin typeface="Inter"/>
                        </a:rPr>
                        <a:t>Penetration test before real money</a:t>
                      </a:r>
                    </a:p>
                  </a:txBody>
                  <a:tcPr anchor="ctr" marL="128016" marR="91440">
                    <a:solidFill>
                      <a:srgbClr val="FFFFFF"/>
                    </a:solidFill>
                  </a:tcPr>
                </a:tc>
              </a:tr>
              <a:tr h="566928">
                <a:tc>
                  <a:txBody>
                    <a:bodyPr wrap="square"/>
                    <a:lstStyle/>
                    <a:p>
                      <a:r>
                        <a:rPr sz="1300" b="1">
                          <a:solidFill>
                            <a:srgbClr val="1E293B"/>
                          </a:solidFill>
                          <a:latin typeface="Inter"/>
                        </a:rPr>
                        <a:t>60-day pilot</a:t>
                      </a:r>
                    </a:p>
                  </a:txBody>
                  <a:tcPr anchor="ctr" marL="128016" marR="91440">
                    <a:solidFill>
                      <a:srgbClr val="FFFFFF"/>
                    </a:solidFill>
                  </a:tcPr>
                </a:tc>
                <a:tc>
                  <a:txBody>
                    <a:bodyPr wrap="square"/>
                    <a:lstStyle/>
                    <a:p>
                      <a:r>
                        <a:rPr sz="1300" b="0">
                          <a:solidFill>
                            <a:srgbClr val="64748B"/>
                          </a:solidFill>
                          <a:latin typeface="Inter"/>
                        </a:rPr>
                        <a:t>[FILL: N] vendors, high-ticket segment</a:t>
                      </a:r>
                    </a:p>
                  </a:txBody>
                  <a:tcPr anchor="ctr" marL="128016" marR="91440">
                    <a:solidFill>
                      <a:srgbClr val="FFFFFF"/>
                    </a:solidFill>
                  </a:tcPr>
                </a:tc>
              </a:tr>
            </a:tbl>
          </a:graphicData>
        </a:graphic>
      </p:graphicFrame>
      <p:sp>
        <p:nvSpPr>
          <p:cNvPr id="6" name="Rounded Rectangle 5"/>
          <p:cNvSpPr/>
          <p:nvPr/>
        </p:nvSpPr>
        <p:spPr>
          <a:xfrm>
            <a:off x="777240" y="5349240"/>
            <a:ext cx="6492240" cy="914400"/>
          </a:xfrm>
          <a:prstGeom prst="roundRect">
            <a:avLst>
              <a:gd name="adj" fmla="val 22000"/>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300" b="1">
                <a:solidFill>
                  <a:srgbClr val="1E293B"/>
                </a:solidFill>
                <a:latin typeface="Inter"/>
              </a:rPr>
              <a:t>What this buys:</a:t>
            </a:r>
            <a:r>
              <a:rPr sz="1300" b="0">
                <a:solidFill>
                  <a:srgbClr val="1E40AF"/>
                </a:solidFill>
                <a:latin typeface="Inter"/>
              </a:rPr>
              <a:t> first real transactions on compliant rails, with measured dispute rate, adjudication accuracy, and vendor retention.</a:t>
            </a:r>
          </a:p>
        </p:txBody>
      </p:sp>
      <p:sp>
        <p:nvSpPr>
          <p:cNvPr id="7" name="TextBox 6"/>
          <p:cNvSpPr txBox="1"/>
          <p:nvPr/>
        </p:nvSpPr>
        <p:spPr>
          <a:xfrm>
            <a:off x="7680960" y="2468880"/>
            <a:ext cx="3657600" cy="1097280"/>
          </a:xfrm>
          <a:prstGeom prst="rect">
            <a:avLst/>
          </a:prstGeom>
          <a:noFill/>
        </p:spPr>
        <p:txBody>
          <a:bodyPr wrap="square" lIns="0" rIns="0" tIns="0" bIns="0">
            <a:spAutoFit/>
          </a:bodyPr>
          <a:lstStyle/>
          <a:p>
            <a:pPr algn="l">
              <a:spcBef>
                <a:spcPts val="0"/>
              </a:spcBef>
              <a:spcAft>
                <a:spcPts val="0"/>
              </a:spcAft>
            </a:pPr>
            <a:r>
              <a:rPr sz="1200" b="1">
                <a:solidFill>
                  <a:srgbClr val="92400E"/>
                </a:solidFill>
                <a:latin typeface="Inter"/>
              </a:rPr>
              <a:t>[FILL: Name]</a:t>
            </a:r>
          </a:p>
          <a:p>
            <a:pPr algn="l">
              <a:spcBef>
                <a:spcPts val="600"/>
              </a:spcBef>
              <a:spcAft>
                <a:spcPts val="0"/>
              </a:spcAft>
            </a:pPr>
            <a:r>
              <a:rPr sz="1200" b="1">
                <a:solidFill>
                  <a:srgbClr val="92400E"/>
                </a:solidFill>
                <a:latin typeface="Inter"/>
              </a:rPr>
              <a:t>[FILL: email]</a:t>
            </a:r>
          </a:p>
          <a:p>
            <a:pPr algn="l">
              <a:spcBef>
                <a:spcPts val="600"/>
              </a:spcBef>
              <a:spcAft>
                <a:spcPts val="0"/>
              </a:spcAft>
            </a:pPr>
            <a:r>
              <a:rPr sz="1200" b="1">
                <a:solidFill>
                  <a:srgbClr val="92400E"/>
                </a:solidFill>
                <a:latin typeface="Inter"/>
              </a:rPr>
              <a:t>[FILL: phone]</a:t>
            </a:r>
          </a:p>
        </p:txBody>
      </p:sp>
      <p:sp>
        <p:nvSpPr>
          <p:cNvPr id="8" name="TextBox 7"/>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Confidential investor deck</a:t>
            </a:r>
          </a:p>
        </p:txBody>
      </p:sp>
      <p:sp>
        <p:nvSpPr>
          <p:cNvPr id="9" name="TextBox 8"/>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APPENDIX</a:t>
            </a:r>
          </a:p>
        </p:txBody>
      </p:sp>
      <p:sp>
        <p:nvSpPr>
          <p:cNvPr id="4" name="TextBox 3"/>
          <p:cNvSpPr txBox="1"/>
          <p:nvPr/>
        </p:nvSpPr>
        <p:spPr>
          <a:xfrm>
            <a:off x="777240" y="2788920"/>
            <a:ext cx="10424160" cy="1097280"/>
          </a:xfrm>
          <a:prstGeom prst="rect">
            <a:avLst/>
          </a:prstGeom>
          <a:noFill/>
        </p:spPr>
        <p:txBody>
          <a:bodyPr wrap="square" lIns="0" rIns="0" tIns="0" bIns="0">
            <a:spAutoFit/>
          </a:bodyPr>
          <a:lstStyle/>
          <a:p>
            <a:pPr algn="l">
              <a:spcBef>
                <a:spcPts val="0"/>
              </a:spcBef>
              <a:spcAft>
                <a:spcPts val="0"/>
              </a:spcAft>
            </a:pPr>
            <a:r>
              <a:rPr sz="3400" b="1">
                <a:solidFill>
                  <a:srgbClr val="1E293B"/>
                </a:solidFill>
                <a:latin typeface="Inter"/>
              </a:rPr>
              <a:t>For questions, not for presenting.</a:t>
            </a:r>
          </a:p>
        </p:txBody>
      </p:sp>
      <p:sp>
        <p:nvSpPr>
          <p:cNvPr id="5" name="TextBox 4"/>
          <p:cNvSpPr txBox="1"/>
          <p:nvPr/>
        </p:nvSpPr>
        <p:spPr>
          <a:xfrm>
            <a:off x="777240" y="3931920"/>
            <a:ext cx="10424160" cy="731520"/>
          </a:xfrm>
          <a:prstGeom prst="rect">
            <a:avLst/>
          </a:prstGeom>
          <a:noFill/>
        </p:spPr>
        <p:txBody>
          <a:bodyPr wrap="square" lIns="0" rIns="0" tIns="0" bIns="0">
            <a:spAutoFit/>
          </a:bodyPr>
          <a:lstStyle/>
          <a:p>
            <a:pPr algn="l">
              <a:spcBef>
                <a:spcPts val="0"/>
              </a:spcBef>
              <a:spcAft>
                <a:spcPts val="0"/>
              </a:spcAft>
            </a:pPr>
            <a:r>
              <a:rPr sz="1400" b="0">
                <a:solidFill>
                  <a:srgbClr val="64748B"/>
                </a:solidFill>
                <a:latin typeface="Inter"/>
              </a:rPr>
              <a:t>A1 Why a student built this · A2 Technical depth · A3 Risks, stated plainly · A4 Expansion · A5 Likely questions</a:t>
            </a:r>
          </a:p>
        </p:txBody>
      </p:sp>
      <p:sp>
        <p:nvSpPr>
          <p:cNvPr id="6" name="TextBox 5"/>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Appendix</a:t>
            </a:r>
          </a:p>
        </p:txBody>
      </p:sp>
      <p:sp>
        <p:nvSpPr>
          <p:cNvPr id="7" name="TextBox 6"/>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APPENDIX A1</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Why a student built this.</a:t>
            </a:r>
          </a:p>
        </p:txBody>
      </p:sp>
      <p:sp>
        <p:nvSpPr>
          <p:cNvPr id="5" name="TextBox 4"/>
          <p:cNvSpPr txBox="1"/>
          <p:nvPr/>
        </p:nvSpPr>
        <p:spPr>
          <a:xfrm>
            <a:off x="777240" y="2468880"/>
            <a:ext cx="10241280" cy="2743200"/>
          </a:xfrm>
          <a:prstGeom prst="rect">
            <a:avLst/>
          </a:prstGeom>
          <a:noFill/>
        </p:spPr>
        <p:txBody>
          <a:bodyPr wrap="square" lIns="0" rIns="0" tIns="0" bIns="0">
            <a:spAutoFit/>
          </a:bodyPr>
          <a:lstStyle/>
          <a:p>
            <a:pPr algn="l">
              <a:spcBef>
                <a:spcPts val="0"/>
              </a:spcBef>
              <a:spcAft>
                <a:spcPts val="1600"/>
              </a:spcAft>
            </a:pPr>
            <a:r>
              <a:rPr sz="1600" b="0">
                <a:solidFill>
                  <a:srgbClr val="64748B"/>
                </a:solidFill>
                <a:latin typeface="Inter"/>
              </a:rPr>
              <a:t/>
            </a:r>
            <a:r>
              <a:rPr sz="1600" b="1">
                <a:solidFill>
                  <a:srgbClr val="2563EB"/>
                </a:solidFill>
                <a:latin typeface="Inter"/>
              </a:rPr>
              <a:t>•  </a:t>
            </a:r>
            <a:r>
              <a:rPr sz="1600" b="1">
                <a:solidFill>
                  <a:srgbClr val="1E293B"/>
                </a:solidFill>
                <a:latin typeface="Inter"/>
              </a:rPr>
              <a:t>28 written specification documents</a:t>
            </a:r>
            <a:r>
              <a:rPr sz="1600" b="0">
                <a:solidFill>
                  <a:srgbClr val="64748B"/>
                </a:solidFill>
                <a:latin typeface="Inter"/>
              </a:rPr>
              <a:t> before any code.</a:t>
            </a:r>
          </a:p>
          <a:p>
            <a:pPr algn="l">
              <a:spcBef>
                <a:spcPts val="0"/>
              </a:spcBef>
              <a:spcAft>
                <a:spcPts val="1600"/>
              </a:spcAft>
            </a:pPr>
            <a:r>
              <a:rPr sz="1600" b="0">
                <a:solidFill>
                  <a:srgbClr val="64748B"/>
                </a:solidFill>
                <a:latin typeface="Inter"/>
              </a:rPr>
              <a:t/>
            </a:r>
            <a:r>
              <a:rPr sz="1600" b="1">
                <a:solidFill>
                  <a:srgbClr val="2563EB"/>
                </a:solidFill>
                <a:latin typeface="Inter"/>
              </a:rPr>
              <a:t>•  </a:t>
            </a:r>
            <a:r>
              <a:rPr sz="1600" b="1">
                <a:solidFill>
                  <a:srgbClr val="1E293B"/>
                </a:solidFill>
                <a:latin typeface="Inter"/>
              </a:rPr>
              <a:t>A phase-gate rule:</a:t>
            </a:r>
            <a:r>
              <a:rPr sz="1600" b="0">
                <a:solidFill>
                  <a:srgbClr val="64748B"/>
                </a:solidFill>
                <a:latin typeface="Inter"/>
              </a:rPr>
              <a:t> no phase advances until it is production-grade, complete, and tested. Eight phases, each on its own branch, merged only after its gate passed.</a:t>
            </a:r>
          </a:p>
          <a:p>
            <a:pPr algn="l">
              <a:spcBef>
                <a:spcPts val="0"/>
              </a:spcBef>
              <a:spcAft>
                <a:spcPts val="1600"/>
              </a:spcAft>
            </a:pPr>
            <a:r>
              <a:rPr sz="1600" b="0">
                <a:solidFill>
                  <a:srgbClr val="64748B"/>
                </a:solidFill>
                <a:latin typeface="Inter"/>
              </a:rPr>
              <a:t/>
            </a:r>
            <a:r>
              <a:rPr sz="1600" b="1">
                <a:solidFill>
                  <a:srgbClr val="2563EB"/>
                </a:solidFill>
                <a:latin typeface="Inter"/>
              </a:rPr>
              <a:t>•  </a:t>
            </a:r>
            <a:r>
              <a:rPr sz="1600" b="1">
                <a:solidFill>
                  <a:srgbClr val="1E293B"/>
                </a:solidFill>
                <a:latin typeface="Inter"/>
              </a:rPr>
              <a:t>The specification package is the due-diligence pack</a:t>
            </a:r>
            <a:r>
              <a:rPr sz="1600" b="0">
                <a:solidFill>
                  <a:srgbClr val="64748B"/>
                </a:solidFill>
                <a:latin typeface="Inter"/>
              </a:rPr>
              <a:t> — architecture, data model, threat model, testing strategy, and regulatory analysis, all written down.</a:t>
            </a:r>
          </a:p>
        </p:txBody>
      </p:sp>
      <p:sp>
        <p:nvSpPr>
          <p:cNvPr id="6" name="TextBox 5"/>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Appendix</a:t>
            </a:r>
          </a:p>
        </p:txBody>
      </p:sp>
      <p:sp>
        <p:nvSpPr>
          <p:cNvPr id="7" name="TextBox 6"/>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A1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APPENDIX A2</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Technical depth.</a:t>
            </a:r>
          </a:p>
        </p:txBody>
      </p:sp>
      <p:sp>
        <p:nvSpPr>
          <p:cNvPr id="5" name="TextBox 4"/>
          <p:cNvSpPr txBox="1"/>
          <p:nvPr/>
        </p:nvSpPr>
        <p:spPr>
          <a:xfrm>
            <a:off x="777240" y="2286000"/>
            <a:ext cx="10424160" cy="3840480"/>
          </a:xfrm>
          <a:prstGeom prst="rect">
            <a:avLst/>
          </a:prstGeom>
          <a:noFill/>
        </p:spPr>
        <p:txBody>
          <a:bodyPr wrap="square" lIns="0" rIns="0" tIns="0" bIns="0">
            <a:spAutoFit/>
          </a:bodyPr>
          <a:lstStyle/>
          <a:p>
            <a:pPr algn="l">
              <a:spcBef>
                <a:spcPts val="0"/>
              </a:spcBef>
              <a:spcAft>
                <a:spcPts val="1000"/>
              </a:spcAft>
            </a:pPr>
            <a:r>
              <a:rPr sz="1350" b="0">
                <a:solidFill>
                  <a:srgbClr val="64748B"/>
                </a:solidFill>
                <a:latin typeface="Inter"/>
              </a:rPr>
              <a:t/>
            </a:r>
            <a:r>
              <a:rPr sz="1350" b="1">
                <a:solidFill>
                  <a:srgbClr val="2563EB"/>
                </a:solidFill>
                <a:latin typeface="Inter"/>
              </a:rPr>
              <a:t>•  </a:t>
            </a:r>
            <a:r>
              <a:rPr sz="1350" b="1">
                <a:solidFill>
                  <a:srgbClr val="1E293B"/>
                </a:solidFill>
                <a:latin typeface="Inter"/>
              </a:rPr>
              <a:t>Money:</a:t>
            </a:r>
            <a:r>
              <a:rPr sz="1350" b="0">
                <a:solidFill>
                  <a:srgbClr val="64748B"/>
                </a:solidFill>
                <a:latin typeface="Inter"/>
              </a:rPr>
              <a:t> NUMERIC(15,2) throughout; no floats anywhere near a balance. Explicit currency on every amount.</a:t>
            </a:r>
          </a:p>
          <a:p>
            <a:pPr algn="l">
              <a:spcBef>
                <a:spcPts val="0"/>
              </a:spcBef>
              <a:spcAft>
                <a:spcPts val="1000"/>
              </a:spcAft>
            </a:pPr>
            <a:r>
              <a:rPr sz="1350" b="0">
                <a:solidFill>
                  <a:srgbClr val="64748B"/>
                </a:solidFill>
                <a:latin typeface="Inter"/>
              </a:rPr>
              <a:t/>
            </a:r>
            <a:r>
              <a:rPr sz="1350" b="1">
                <a:solidFill>
                  <a:srgbClr val="2563EB"/>
                </a:solidFill>
                <a:latin typeface="Inter"/>
              </a:rPr>
              <a:t>•  </a:t>
            </a:r>
            <a:r>
              <a:rPr sz="1350" b="1">
                <a:solidFill>
                  <a:srgbClr val="1E293B"/>
                </a:solidFill>
                <a:latin typeface="Inter"/>
              </a:rPr>
              <a:t>Ledger:</a:t>
            </a:r>
            <a:r>
              <a:rPr sz="1350" b="0">
                <a:solidFill>
                  <a:srgbClr val="64748B"/>
                </a:solidFill>
                <a:latin typeface="Inter"/>
              </a:rPr>
              <a:t> append-only; UPDATE/DELETE revoked at the database role level. The authoritative sub-ledger of who owns what inside the pooled float.</a:t>
            </a:r>
          </a:p>
          <a:p>
            <a:pPr algn="l">
              <a:spcBef>
                <a:spcPts val="0"/>
              </a:spcBef>
              <a:spcAft>
                <a:spcPts val="1000"/>
              </a:spcAft>
            </a:pPr>
            <a:r>
              <a:rPr sz="1350" b="0">
                <a:solidFill>
                  <a:srgbClr val="64748B"/>
                </a:solidFill>
                <a:latin typeface="Inter"/>
              </a:rPr>
              <a:t/>
            </a:r>
            <a:r>
              <a:rPr sz="1350" b="1">
                <a:solidFill>
                  <a:srgbClr val="2563EB"/>
                </a:solidFill>
                <a:latin typeface="Inter"/>
              </a:rPr>
              <a:t>•  </a:t>
            </a:r>
            <a:r>
              <a:rPr sz="1350" b="1">
                <a:solidFill>
                  <a:srgbClr val="1E293B"/>
                </a:solidFill>
                <a:latin typeface="Inter"/>
              </a:rPr>
              <a:t>Concurrency:</a:t>
            </a:r>
            <a:r>
              <a:rPr sz="1350" b="0">
                <a:solidFill>
                  <a:srgbClr val="64748B"/>
                </a:solidFill>
                <a:latin typeface="Inter"/>
              </a:rPr>
              <a:t> SELECT … FOR UPDATE before every money mutation; partial unique indexes make double-deposit and double-payout structurally impossible.</a:t>
            </a:r>
          </a:p>
          <a:p>
            <a:pPr algn="l">
              <a:spcBef>
                <a:spcPts val="0"/>
              </a:spcBef>
              <a:spcAft>
                <a:spcPts val="1000"/>
              </a:spcAft>
            </a:pPr>
            <a:r>
              <a:rPr sz="1350" b="0">
                <a:solidFill>
                  <a:srgbClr val="64748B"/>
                </a:solidFill>
                <a:latin typeface="Inter"/>
              </a:rPr>
              <a:t/>
            </a:r>
            <a:r>
              <a:rPr sz="1350" b="1">
                <a:solidFill>
                  <a:srgbClr val="2563EB"/>
                </a:solidFill>
                <a:latin typeface="Inter"/>
              </a:rPr>
              <a:t>•  </a:t>
            </a:r>
            <a:r>
              <a:rPr sz="1350" b="1">
                <a:solidFill>
                  <a:srgbClr val="1E293B"/>
                </a:solidFill>
                <a:latin typeface="Inter"/>
              </a:rPr>
              <a:t>Webhooks:</a:t>
            </a:r>
            <a:r>
              <a:rPr sz="1350" b="0">
                <a:solidFill>
                  <a:srgbClr val="64748B"/>
                </a:solidFill>
                <a:latin typeface="Inter"/>
              </a:rPr>
              <a:t> raw-body HMAC verification, 300-second replay window, Redis fast-gate plus durable inbox for idempotency.</a:t>
            </a:r>
          </a:p>
          <a:p>
            <a:pPr algn="l">
              <a:spcBef>
                <a:spcPts val="0"/>
              </a:spcBef>
              <a:spcAft>
                <a:spcPts val="1000"/>
              </a:spcAft>
            </a:pPr>
            <a:r>
              <a:rPr sz="1350" b="0">
                <a:solidFill>
                  <a:srgbClr val="64748B"/>
                </a:solidFill>
                <a:latin typeface="Inter"/>
              </a:rPr>
              <a:t/>
            </a:r>
            <a:r>
              <a:rPr sz="1350" b="1">
                <a:solidFill>
                  <a:srgbClr val="2563EB"/>
                </a:solidFill>
                <a:latin typeface="Inter"/>
              </a:rPr>
              <a:t>•  </a:t>
            </a:r>
            <a:r>
              <a:rPr sz="1350" b="1">
                <a:solidFill>
                  <a:srgbClr val="1E293B"/>
                </a:solidFill>
                <a:latin typeface="Inter"/>
              </a:rPr>
              <a:t>Ordering rule:</a:t>
            </a:r>
            <a:r>
              <a:rPr sz="1350" b="0">
                <a:solidFill>
                  <a:srgbClr val="64748B"/>
                </a:solidFill>
                <a:latin typeface="Inter"/>
              </a:rPr>
              <a:t> pay first, then ledger — the negative entry is written only after provider confirmation. A failed payout leaves the balance intact and retriable.</a:t>
            </a:r>
          </a:p>
          <a:p>
            <a:pPr algn="l">
              <a:spcBef>
                <a:spcPts val="0"/>
              </a:spcBef>
              <a:spcAft>
                <a:spcPts val="1000"/>
              </a:spcAft>
            </a:pPr>
            <a:r>
              <a:rPr sz="1350" b="0">
                <a:solidFill>
                  <a:srgbClr val="64748B"/>
                </a:solidFill>
                <a:latin typeface="Inter"/>
              </a:rPr>
              <a:t/>
            </a:r>
            <a:r>
              <a:rPr sz="1350" b="1">
                <a:solidFill>
                  <a:srgbClr val="2563EB"/>
                </a:solidFill>
                <a:latin typeface="Inter"/>
              </a:rPr>
              <a:t>•  </a:t>
            </a:r>
            <a:r>
              <a:rPr sz="1350" b="1">
                <a:solidFill>
                  <a:srgbClr val="1E293B"/>
                </a:solidFill>
                <a:latin typeface="Inter"/>
              </a:rPr>
              <a:t>Reconciliation:</a:t>
            </a:r>
            <a:r>
              <a:rPr sz="1350" b="0">
                <a:solidFill>
                  <a:srgbClr val="64748B"/>
                </a:solidFill>
                <a:latin typeface="Inter"/>
              </a:rPr>
              <a:t> daily three-way match (provider balance / sub-ledger sum / statement). Any mismatch freezes disbursements and pages.</a:t>
            </a:r>
          </a:p>
        </p:txBody>
      </p:sp>
      <p:sp>
        <p:nvSpPr>
          <p:cNvPr id="6" name="TextBox 5"/>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Appendix</a:t>
            </a:r>
          </a:p>
        </p:txBody>
      </p:sp>
      <p:sp>
        <p:nvSpPr>
          <p:cNvPr id="7" name="TextBox 6"/>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A2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APPENDIX A3</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Risks, stated plainly.</a:t>
            </a:r>
          </a:p>
        </p:txBody>
      </p:sp>
      <p:graphicFrame>
        <p:nvGraphicFramePr>
          <p:cNvPr id="5" name="Table 4"/>
          <p:cNvGraphicFramePr>
            <a:graphicFrameLocks noGrp="1"/>
          </p:cNvGraphicFramePr>
          <p:nvPr/>
        </p:nvGraphicFramePr>
        <p:xfrm>
          <a:off x="777240" y="2194560"/>
          <a:ext cx="10634471" cy="4005072"/>
        </p:xfrm>
        <a:graphic>
          <a:graphicData uri="http://schemas.openxmlformats.org/drawingml/2006/table">
            <a:tbl>
              <a:tblPr>
                <a:tableStyleId>{5C22544A-7EE6-4342-B048-85BDC9FD1C3A}</a:tableStyleId>
              </a:tblPr>
              <a:tblGrid>
                <a:gridCol w="4041099"/>
                <a:gridCol w="6593372"/>
              </a:tblGrid>
              <a:tr h="384048">
                <a:tc>
                  <a:txBody>
                    <a:bodyPr wrap="square"/>
                    <a:lstStyle/>
                    <a:p>
                      <a:r>
                        <a:rPr sz="1100" b="1">
                          <a:solidFill>
                            <a:srgbClr val="1E40AF"/>
                          </a:solidFill>
                          <a:latin typeface="Inter"/>
                        </a:rPr>
                        <a:t>RISK</a:t>
                      </a:r>
                    </a:p>
                  </a:txBody>
                  <a:tcPr anchor="ctr" marL="128016" marR="91440">
                    <a:solidFill>
                      <a:srgbClr val="EFF6FF"/>
                    </a:solidFill>
                  </a:tcPr>
                </a:tc>
                <a:tc>
                  <a:txBody>
                    <a:bodyPr wrap="square"/>
                    <a:lstStyle/>
                    <a:p>
                      <a:r>
                        <a:rPr sz="1100" b="1">
                          <a:solidFill>
                            <a:srgbClr val="1E40AF"/>
                          </a:solidFill>
                          <a:latin typeface="Inter"/>
                        </a:rPr>
                        <a:t>RESPONSE</a:t>
                      </a:r>
                    </a:p>
                  </a:txBody>
                  <a:tcPr anchor="ctr" marL="128016" marR="91440">
                    <a:solidFill>
                      <a:srgbClr val="EFF6FF"/>
                    </a:solidFill>
                  </a:tcPr>
                </a:tc>
              </a:tr>
              <a:tr h="603504">
                <a:tc>
                  <a:txBody>
                    <a:bodyPr wrap="square"/>
                    <a:lstStyle/>
                    <a:p>
                      <a:r>
                        <a:rPr sz="1200" b="1">
                          <a:solidFill>
                            <a:srgbClr val="1E293B"/>
                          </a:solidFill>
                          <a:latin typeface="Inter"/>
                        </a:rPr>
                        <a:t>Aggregator restricts escrow models</a:t>
                      </a:r>
                    </a:p>
                  </a:txBody>
                  <a:tcPr anchor="ctr" marL="128016" marR="91440">
                    <a:solidFill>
                      <a:srgbClr val="FFFFFF"/>
                    </a:solidFill>
                  </a:tcPr>
                </a:tc>
                <a:tc>
                  <a:txBody>
                    <a:bodyPr wrap="square"/>
                    <a:lstStyle/>
                    <a:p>
                      <a:r>
                        <a:rPr sz="1200" b="0">
                          <a:solidFill>
                            <a:srgbClr val="64748B"/>
                          </a:solidFill>
                          <a:latin typeface="Inter"/>
                        </a:rPr>
                        <a:t>Being confirmed in writing before spend. If restricted, we go directly to a licensed partner.</a:t>
                      </a:r>
                    </a:p>
                  </a:txBody>
                  <a:tcPr anchor="ctr" marL="128016" marR="91440">
                    <a:solidFill>
                      <a:srgbClr val="FFFFFF"/>
                    </a:solidFill>
                  </a:tcPr>
                </a:tc>
              </a:tr>
              <a:tr h="603504">
                <a:tc>
                  <a:txBody>
                    <a:bodyPr wrap="square"/>
                    <a:lstStyle/>
                    <a:p>
                      <a:r>
                        <a:rPr sz="1200" b="1">
                          <a:solidFill>
                            <a:srgbClr val="1E293B"/>
                          </a:solidFill>
                          <a:latin typeface="Inter"/>
                        </a:rPr>
                        <a:t>P1 is legally thin at scale</a:t>
                      </a:r>
                    </a:p>
                  </a:txBody>
                  <a:tcPr anchor="ctr" marL="128016" marR="91440">
                    <a:solidFill>
                      <a:srgbClr val="FFFFFF"/>
                    </a:solidFill>
                  </a:tcPr>
                </a:tc>
                <a:tc>
                  <a:txBody>
                    <a:bodyPr wrap="square"/>
                    <a:lstStyle/>
                    <a:p>
                      <a:r>
                        <a:rPr sz="1200" b="0">
                          <a:solidFill>
                            <a:srgbClr val="64748B"/>
                          </a:solidFill>
                          <a:latin typeface="Inter"/>
                        </a:rPr>
                        <a:t>Deliberately so — low supervised volumes, disclosed, with P2 as fast follow. A stopwatch, not a resting state.</a:t>
                      </a:r>
                    </a:p>
                  </a:txBody>
                  <a:tcPr anchor="ctr" marL="128016" marR="91440">
                    <a:solidFill>
                      <a:srgbClr val="FFFFFF"/>
                    </a:solidFill>
                  </a:tcPr>
                </a:tc>
              </a:tr>
              <a:tr h="603504">
                <a:tc>
                  <a:txBody>
                    <a:bodyPr wrap="square"/>
                    <a:lstStyle/>
                    <a:p>
                      <a:r>
                        <a:rPr sz="1200" b="1">
                          <a:solidFill>
                            <a:srgbClr val="1E293B"/>
                          </a:solidFill>
                          <a:latin typeface="Inter"/>
                        </a:rPr>
                        <a:t>Thin margin per transaction</a:t>
                      </a:r>
                    </a:p>
                  </a:txBody>
                  <a:tcPr anchor="ctr" marL="128016" marR="91440">
                    <a:solidFill>
                      <a:srgbClr val="FFFFFF"/>
                    </a:solidFill>
                  </a:tcPr>
                </a:tc>
                <a:tc>
                  <a:txBody>
                    <a:bodyPr wrap="square"/>
                    <a:lstStyle/>
                    <a:p>
                      <a:r>
                        <a:rPr sz="1200" b="0">
                          <a:solidFill>
                            <a:srgbClr val="64748B"/>
                          </a:solidFill>
                          <a:latin typeface="Inter"/>
                        </a:rPr>
                        <a:t>Segment choice targets 3x average ticket. Minimum transaction size under consideration.</a:t>
                      </a:r>
                    </a:p>
                  </a:txBody>
                  <a:tcPr anchor="ctr" marL="128016" marR="91440">
                    <a:solidFill>
                      <a:srgbClr val="FFFFFF"/>
                    </a:solidFill>
                  </a:tcPr>
                </a:tc>
              </a:tr>
              <a:tr h="603504">
                <a:tc>
                  <a:txBody>
                    <a:bodyPr wrap="square"/>
                    <a:lstStyle/>
                    <a:p>
                      <a:r>
                        <a:rPr sz="1200" b="1">
                          <a:solidFill>
                            <a:srgbClr val="1E293B"/>
                          </a:solidFill>
                          <a:latin typeface="Inter"/>
                        </a:rPr>
                        <a:t>Incumbent ships escrow as a feature</a:t>
                      </a:r>
                    </a:p>
                  </a:txBody>
                  <a:tcPr anchor="ctr" marL="128016" marR="91440">
                    <a:solidFill>
                      <a:srgbClr val="FFFFFF"/>
                    </a:solidFill>
                  </a:tcPr>
                </a:tc>
                <a:tc>
                  <a:txBody>
                    <a:bodyPr wrap="square"/>
                    <a:lstStyle/>
                    <a:p>
                      <a:r>
                        <a:rPr sz="1200" b="0">
                          <a:solidFill>
                            <a:srgbClr val="64748B"/>
                          </a:solidFill>
                          <a:latin typeface="Inter"/>
                        </a:rPr>
                        <a:t>Defensibility is the vendor network and fair-adjudication reputation — not the code.</a:t>
                      </a:r>
                    </a:p>
                  </a:txBody>
                  <a:tcPr anchor="ctr" marL="128016" marR="91440">
                    <a:solidFill>
                      <a:srgbClr val="FFFFFF"/>
                    </a:solidFill>
                  </a:tcPr>
                </a:tc>
              </a:tr>
              <a:tr h="603504">
                <a:tc>
                  <a:txBody>
                    <a:bodyPr wrap="square"/>
                    <a:lstStyle/>
                    <a:p>
                      <a:r>
                        <a:rPr sz="1200" b="1">
                          <a:solidFill>
                            <a:srgbClr val="1E293B"/>
                          </a:solidFill>
                          <a:latin typeface="Inter"/>
                        </a:rPr>
                        <a:t>Ops load as volume grows</a:t>
                      </a:r>
                    </a:p>
                  </a:txBody>
                  <a:tcPr anchor="ctr" marL="128016" marR="91440">
                    <a:solidFill>
                      <a:srgbClr val="FFFFFF"/>
                    </a:solidFill>
                  </a:tcPr>
                </a:tc>
                <a:tc>
                  <a:txBody>
                    <a:bodyPr wrap="square"/>
                    <a:lstStyle/>
                    <a:p>
                      <a:r>
                        <a:rPr sz="1200" b="0">
                          <a:solidFill>
                            <a:srgbClr val="64748B"/>
                          </a:solidFill>
                          <a:latin typeface="Inter"/>
                        </a:rPr>
                        <a:t>Automated tiers 1–2 handle the bulk; staffing trigger volume defined in advance.</a:t>
                      </a:r>
                    </a:p>
                  </a:txBody>
                  <a:tcPr anchor="ctr" marL="128016" marR="91440">
                    <a:solidFill>
                      <a:srgbClr val="FFFFFF"/>
                    </a:solidFill>
                  </a:tcPr>
                </a:tc>
              </a:tr>
              <a:tr h="603504">
                <a:tc>
                  <a:txBody>
                    <a:bodyPr wrap="square"/>
                    <a:lstStyle/>
                    <a:p>
                      <a:r>
                        <a:rPr sz="1200" b="1">
                          <a:solidFill>
                            <a:srgbClr val="1E293B"/>
                          </a:solidFill>
                          <a:latin typeface="Inter"/>
                        </a:rPr>
                        <a:t>Wrong adjudication</a:t>
                      </a:r>
                    </a:p>
                  </a:txBody>
                  <a:tcPr anchor="ctr" marL="128016" marR="91440">
                    <a:solidFill>
                      <a:srgbClr val="FFFFFF"/>
                    </a:solidFill>
                  </a:tcPr>
                </a:tc>
                <a:tc>
                  <a:txBody>
                    <a:bodyPr wrap="square"/>
                    <a:lstStyle/>
                    <a:p>
                      <a:r>
                        <a:rPr sz="1200" b="0">
                          <a:solidFill>
                            <a:srgbClr val="64748B"/>
                          </a:solidFill>
                          <a:latin typeface="Inter"/>
                        </a:rPr>
                        <a:t>Written adjudication policy, loss reserve, and appeal path.</a:t>
                      </a:r>
                    </a:p>
                  </a:txBody>
                  <a:tcPr anchor="ctr" marL="128016" marR="91440">
                    <a:solidFill>
                      <a:srgbClr val="FFFFFF"/>
                    </a:solidFill>
                  </a:tcPr>
                </a:tc>
              </a:tr>
            </a:tbl>
          </a:graphicData>
        </a:graphic>
      </p:graphicFrame>
      <p:sp>
        <p:nvSpPr>
          <p:cNvPr id="6" name="TextBox 5"/>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Appendix</a:t>
            </a:r>
          </a:p>
        </p:txBody>
      </p:sp>
      <p:sp>
        <p:nvSpPr>
          <p:cNvPr id="7" name="TextBox 6"/>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A3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APPENDIX A4</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Expansion.</a:t>
            </a:r>
          </a:p>
        </p:txBody>
      </p:sp>
      <p:sp>
        <p:nvSpPr>
          <p:cNvPr id="5" name="TextBox 4"/>
          <p:cNvSpPr txBox="1"/>
          <p:nvPr/>
        </p:nvSpPr>
        <p:spPr>
          <a:xfrm>
            <a:off x="777240" y="2560320"/>
            <a:ext cx="10058400" cy="2194560"/>
          </a:xfrm>
          <a:prstGeom prst="rect">
            <a:avLst/>
          </a:prstGeom>
          <a:noFill/>
        </p:spPr>
        <p:txBody>
          <a:bodyPr wrap="square" lIns="0" rIns="0" tIns="0" bIns="0">
            <a:spAutoFit/>
          </a:bodyPr>
          <a:lstStyle/>
          <a:p>
            <a:pPr algn="l">
              <a:spcBef>
                <a:spcPts val="0"/>
              </a:spcBef>
              <a:spcAft>
                <a:spcPts val="1400"/>
              </a:spcAft>
            </a:pPr>
            <a:r>
              <a:rPr sz="1600" b="0">
                <a:solidFill>
                  <a:srgbClr val="64748B"/>
                </a:solidFill>
                <a:latin typeface="Inter"/>
              </a:rPr>
              <a:t/>
            </a:r>
            <a:r>
              <a:rPr sz="1600" b="1">
                <a:solidFill>
                  <a:srgbClr val="2563EB"/>
                </a:solidFill>
                <a:latin typeface="Inter"/>
              </a:rPr>
              <a:t>•  </a:t>
            </a:r>
            <a:r>
              <a:rPr sz="1600" b="0">
                <a:solidFill>
                  <a:srgbClr val="64748B"/>
                </a:solidFill>
                <a:latin typeface="Inter"/>
              </a:rPr>
              <a:t>Payment rails and currency sit behind abstractions from day one.</a:t>
            </a:r>
          </a:p>
          <a:p>
            <a:pPr algn="l">
              <a:spcBef>
                <a:spcPts val="0"/>
              </a:spcBef>
              <a:spcAft>
                <a:spcPts val="1400"/>
              </a:spcAft>
            </a:pPr>
            <a:r>
              <a:rPr sz="1600" b="0">
                <a:solidFill>
                  <a:srgbClr val="64748B"/>
                </a:solidFill>
                <a:latin typeface="Inter"/>
              </a:rPr>
              <a:t/>
            </a:r>
            <a:r>
              <a:rPr sz="1600" b="1">
                <a:solidFill>
                  <a:srgbClr val="2563EB"/>
                </a:solidFill>
                <a:latin typeface="Inter"/>
              </a:rPr>
              <a:t>•  </a:t>
            </a:r>
            <a:r>
              <a:rPr sz="1600" b="1">
                <a:solidFill>
                  <a:srgbClr val="1E293B"/>
                </a:solidFill>
                <a:latin typeface="Inter"/>
              </a:rPr>
              <a:t>Kenya (M-Pesa) and Nigeria are additional PaymentRail implementations, not rebuilds.</a:t>
            </a:r>
          </a:p>
          <a:p>
            <a:pPr algn="l">
              <a:spcBef>
                <a:spcPts val="0"/>
              </a:spcBef>
              <a:spcAft>
                <a:spcPts val="1400"/>
              </a:spcAft>
            </a:pPr>
            <a:r>
              <a:rPr sz="1600" b="0">
                <a:solidFill>
                  <a:srgbClr val="64748B"/>
                </a:solidFill>
                <a:latin typeface="Inter"/>
              </a:rPr>
              <a:t/>
            </a:r>
            <a:r>
              <a:rPr sz="1600" b="1">
                <a:solidFill>
                  <a:srgbClr val="2563EB"/>
                </a:solidFill>
                <a:latin typeface="Inter"/>
              </a:rPr>
              <a:t>•  </a:t>
            </a:r>
            <a:r>
              <a:rPr sz="1600" b="0">
                <a:solidFill>
                  <a:srgbClr val="64748B"/>
                </a:solidFill>
                <a:latin typeface="Inter"/>
              </a:rPr>
              <a:t>Each new market repeats the custody-phase evaluation; the escrow logic never changes.</a:t>
            </a:r>
          </a:p>
        </p:txBody>
      </p:sp>
      <p:sp>
        <p:nvSpPr>
          <p:cNvPr id="6" name="TextBox 5"/>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Appendix</a:t>
            </a:r>
          </a:p>
        </p:txBody>
      </p:sp>
      <p:sp>
        <p:nvSpPr>
          <p:cNvPr id="7" name="TextBox 6"/>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A4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07040" cy="365760"/>
          </a:xfrm>
          <a:prstGeom prst="rect">
            <a:avLst/>
          </a:prstGeom>
          <a:noFill/>
        </p:spPr>
        <p:txBody>
          <a:bodyPr wrap="square" lIns="0" rIns="0" tIns="0" bIns="0">
            <a:spAutoFit/>
          </a:bodyPr>
          <a:lstStyle/>
          <a:p>
            <a:pPr algn="l">
              <a:spcBef>
                <a:spcPts val="0"/>
              </a:spcBef>
              <a:spcAft>
                <a:spcPts val="0"/>
              </a:spcAft>
            </a:pPr>
            <a:r>
              <a:rPr sz="1200" b="1">
                <a:solidFill>
                  <a:srgbClr val="2563EB"/>
                </a:solidFill>
                <a:latin typeface="Inter"/>
              </a:rPr>
              <a:t>APPENDIX A5</a:t>
            </a:r>
          </a:p>
        </p:txBody>
      </p:sp>
      <p:sp>
        <p:nvSpPr>
          <p:cNvPr id="4" name="TextBox 3"/>
          <p:cNvSpPr txBox="1"/>
          <p:nvPr/>
        </p:nvSpPr>
        <p:spPr>
          <a:xfrm>
            <a:off x="777240" y="868680"/>
            <a:ext cx="10607040" cy="1143000"/>
          </a:xfrm>
          <a:prstGeom prst="rect">
            <a:avLst/>
          </a:prstGeom>
          <a:noFill/>
        </p:spPr>
        <p:txBody>
          <a:bodyPr wrap="square" lIns="0" rIns="0" tIns="0" bIns="0">
            <a:spAutoFit/>
          </a:bodyPr>
          <a:lstStyle/>
          <a:p>
            <a:pPr algn="l">
              <a:spcBef>
                <a:spcPts val="0"/>
              </a:spcBef>
              <a:spcAft>
                <a:spcPts val="0"/>
              </a:spcAft>
            </a:pPr>
            <a:r>
              <a:rPr sz="3000" b="1">
                <a:solidFill>
                  <a:srgbClr val="1E293B"/>
                </a:solidFill>
                <a:latin typeface="Inter"/>
              </a:rPr>
              <a:t>Likely questions.</a:t>
            </a:r>
          </a:p>
        </p:txBody>
      </p:sp>
      <p:graphicFrame>
        <p:nvGraphicFramePr>
          <p:cNvPr id="5" name="Table 4"/>
          <p:cNvGraphicFramePr>
            <a:graphicFrameLocks noGrp="1"/>
          </p:cNvGraphicFramePr>
          <p:nvPr/>
        </p:nvGraphicFramePr>
        <p:xfrm>
          <a:off x="777240" y="2194560"/>
          <a:ext cx="10634471" cy="3895344"/>
        </p:xfrm>
        <a:graphic>
          <a:graphicData uri="http://schemas.openxmlformats.org/drawingml/2006/table">
            <a:tbl>
              <a:tblPr>
                <a:tableStyleId>{5C22544A-7EE6-4342-B048-85BDC9FD1C3A}</a:tableStyleId>
              </a:tblPr>
              <a:tblGrid>
                <a:gridCol w="4466478"/>
                <a:gridCol w="6167993"/>
              </a:tblGrid>
              <a:tr h="384048">
                <a:tc>
                  <a:txBody>
                    <a:bodyPr wrap="square"/>
                    <a:lstStyle/>
                    <a:p>
                      <a:r>
                        <a:rPr sz="1100" b="1">
                          <a:solidFill>
                            <a:srgbClr val="1E40AF"/>
                          </a:solidFill>
                          <a:latin typeface="Inter"/>
                        </a:rPr>
                        <a:t>QUESTION</a:t>
                      </a:r>
                    </a:p>
                  </a:txBody>
                  <a:tcPr anchor="ctr" marL="128016" marR="91440">
                    <a:solidFill>
                      <a:srgbClr val="EFF6FF"/>
                    </a:solidFill>
                  </a:tcPr>
                </a:tc>
                <a:tc>
                  <a:txBody>
                    <a:bodyPr wrap="square"/>
                    <a:lstStyle/>
                    <a:p>
                      <a:r>
                        <a:rPr sz="1100" b="1">
                          <a:solidFill>
                            <a:srgbClr val="1E40AF"/>
                          </a:solidFill>
                          <a:latin typeface="Inter"/>
                        </a:rPr>
                        <a:t>SHORT ANSWER</a:t>
                      </a:r>
                    </a:p>
                  </a:txBody>
                  <a:tcPr anchor="ctr" marL="128016" marR="91440">
                    <a:solidFill>
                      <a:srgbClr val="EFF6FF"/>
                    </a:solidFill>
                  </a:tcPr>
                </a:tc>
              </a:tr>
              <a:tr h="585216">
                <a:tc>
                  <a:txBody>
                    <a:bodyPr wrap="square"/>
                    <a:lstStyle/>
                    <a:p>
                      <a:r>
                        <a:rPr sz="1200" b="1">
                          <a:solidFill>
                            <a:srgbClr val="1E293B"/>
                          </a:solidFill>
                          <a:latin typeface="Inter"/>
                        </a:rPr>
                        <a:t>“Isn't this unlicensed money transmission?”</a:t>
                      </a:r>
                    </a:p>
                  </a:txBody>
                  <a:tcPr anchor="ctr" marL="128016" marR="91440">
                    <a:solidFill>
                      <a:srgbClr val="FFFFFF"/>
                    </a:solidFill>
                  </a:tcPr>
                </a:tc>
                <a:tc>
                  <a:txBody>
                    <a:bodyPr wrap="square"/>
                    <a:lstStyle/>
                    <a:p>
                      <a:r>
                        <a:rPr sz="1200" b="0">
                          <a:solidFill>
                            <a:srgbClr val="64748B"/>
                          </a:solidFill>
                          <a:latin typeface="Inter"/>
                        </a:rPr>
                        <a:t>Slides 6–7. We never hold funds on our own account; a licensed entity always holds the float.</a:t>
                      </a:r>
                    </a:p>
                  </a:txBody>
                  <a:tcPr anchor="ctr" marL="128016" marR="91440">
                    <a:solidFill>
                      <a:srgbClr val="FFFFFF"/>
                    </a:solidFill>
                  </a:tcPr>
                </a:tc>
              </a:tr>
              <a:tr h="585216">
                <a:tc>
                  <a:txBody>
                    <a:bodyPr wrap="square"/>
                    <a:lstStyle/>
                    <a:p>
                      <a:r>
                        <a:rPr sz="1200" b="1">
                          <a:solidFill>
                            <a:srgbClr val="1E293B"/>
                          </a:solidFill>
                          <a:latin typeface="Inter"/>
                        </a:rPr>
                        <a:t>“What stops the buyer confirming delivery and then lying?”</a:t>
                      </a:r>
                    </a:p>
                  </a:txBody>
                  <a:tcPr anchor="ctr" marL="128016" marR="91440">
                    <a:solidFill>
                      <a:srgbClr val="FFFFFF"/>
                    </a:solidFill>
                  </a:tcPr>
                </a:tc>
                <a:tc>
                  <a:txBody>
                    <a:bodyPr wrap="square"/>
                    <a:lstStyle/>
                    <a:p>
                      <a:r>
                        <a:rPr sz="1200" b="0">
                          <a:solidFill>
                            <a:srgbClr val="64748B"/>
                          </a:solidFill>
                          <a:latin typeface="Inter"/>
                        </a:rPr>
                        <a:t>Dispute window, forensic evidence, hashed media, trust scoring, and an auto-release timer.</a:t>
                      </a:r>
                    </a:p>
                  </a:txBody>
                  <a:tcPr anchor="ctr" marL="128016" marR="91440">
                    <a:solidFill>
                      <a:srgbClr val="FFFFFF"/>
                    </a:solidFill>
                  </a:tcPr>
                </a:tc>
              </a:tr>
              <a:tr h="585216">
                <a:tc>
                  <a:txBody>
                    <a:bodyPr wrap="square"/>
                    <a:lstStyle/>
                    <a:p>
                      <a:r>
                        <a:rPr sz="1200" b="1">
                          <a:solidFill>
                            <a:srgbClr val="1E293B"/>
                          </a:solidFill>
                          <a:latin typeface="Inter"/>
                        </a:rPr>
                        <a:t>“Why would a vendor pay 2% and wait?”</a:t>
                      </a:r>
                    </a:p>
                  </a:txBody>
                  <a:tcPr anchor="ctr" marL="128016" marR="91440">
                    <a:solidFill>
                      <a:srgbClr val="FFFFFF"/>
                    </a:solidFill>
                  </a:tcPr>
                </a:tc>
                <a:tc>
                  <a:txBody>
                    <a:bodyPr wrap="square"/>
                    <a:lstStyle/>
                    <a:p>
                      <a:r>
                        <a:rPr sz="1200" b="0">
                          <a:solidFill>
                            <a:srgbClr val="64748B"/>
                          </a:solidFill>
                          <a:latin typeface="Inter"/>
                        </a:rPr>
                        <a:t>Because they currently lose the sale entirely. We're testing buyer-pays in the pilot too.</a:t>
                      </a:r>
                    </a:p>
                  </a:txBody>
                  <a:tcPr anchor="ctr" marL="128016" marR="91440">
                    <a:solidFill>
                      <a:srgbClr val="FFFFFF"/>
                    </a:solidFill>
                  </a:tcPr>
                </a:tc>
              </a:tr>
              <a:tr h="585216">
                <a:tc>
                  <a:txBody>
                    <a:bodyPr wrap="square"/>
                    <a:lstStyle/>
                    <a:p>
                      <a:r>
                        <a:rPr sz="1200" b="1">
                          <a:solidFill>
                            <a:srgbClr val="1E293B"/>
                          </a:solidFill>
                          <a:latin typeface="Inter"/>
                        </a:rPr>
                        <a:t>“Why won't MTN / Paystack / Hubtel just build this?”</a:t>
                      </a:r>
                    </a:p>
                  </a:txBody>
                  <a:tcPr anchor="ctr" marL="128016" marR="91440">
                    <a:solidFill>
                      <a:srgbClr val="FFFFFF"/>
                    </a:solidFill>
                  </a:tcPr>
                </a:tc>
                <a:tc>
                  <a:txBody>
                    <a:bodyPr wrap="square"/>
                    <a:lstStyle/>
                    <a:p>
                      <a:r>
                        <a:rPr sz="1200" b="0">
                          <a:solidFill>
                            <a:srgbClr val="64748B"/>
                          </a:solidFill>
                          <a:latin typeface="Inter"/>
                        </a:rPr>
                        <a:t>They might. The moat is the vendor network and adjudication reputation — a partnership is a good outcome.</a:t>
                      </a:r>
                    </a:p>
                  </a:txBody>
                  <a:tcPr anchor="ctr" marL="128016" marR="91440">
                    <a:solidFill>
                      <a:srgbClr val="FFFFFF"/>
                    </a:solidFill>
                  </a:tcPr>
                </a:tc>
              </a:tr>
              <a:tr h="585216">
                <a:tc>
                  <a:txBody>
                    <a:bodyPr wrap="square"/>
                    <a:lstStyle/>
                    <a:p>
                      <a:r>
                        <a:rPr sz="1200" b="1">
                          <a:solidFill>
                            <a:srgbClr val="1E293B"/>
                          </a:solidFill>
                          <a:latin typeface="Inter"/>
                        </a:rPr>
                        <a:t>“You're a final-year student — is this full time?”</a:t>
                      </a:r>
                    </a:p>
                  </a:txBody>
                  <a:tcPr anchor="ctr" marL="128016" marR="91440">
                    <a:solidFill>
                      <a:srgbClr val="FFFFFF"/>
                    </a:solidFill>
                  </a:tcPr>
                </a:tc>
                <a:tc>
                  <a:txBody>
                    <a:bodyPr wrap="square"/>
                    <a:lstStyle/>
                    <a:p>
                      <a:r>
                        <a:rPr sz="1200" b="0">
                          <a:solidFill>
                            <a:srgbClr val="64748B"/>
                          </a:solidFill>
                          <a:latin typeface="Inter"/>
                        </a:rPr>
                        <a:t>[FILL: your genuine answer. Prepare it.]</a:t>
                      </a:r>
                    </a:p>
                  </a:txBody>
                  <a:tcPr anchor="ctr" marL="128016" marR="91440">
                    <a:solidFill>
                      <a:srgbClr val="FFFFFF"/>
                    </a:solidFill>
                  </a:tcPr>
                </a:tc>
              </a:tr>
              <a:tr h="585216">
                <a:tc>
                  <a:txBody>
                    <a:bodyPr wrap="square"/>
                    <a:lstStyle/>
                    <a:p>
                      <a:r>
                        <a:rPr sz="1200" b="1">
                          <a:solidFill>
                            <a:srgbClr val="1E293B"/>
                          </a:solidFill>
                          <a:latin typeface="Inter"/>
                        </a:rPr>
                        <a:t>“What happens if you get a dispute wrong?”</a:t>
                      </a:r>
                    </a:p>
                  </a:txBody>
                  <a:tcPr anchor="ctr" marL="128016" marR="91440">
                    <a:solidFill>
                      <a:srgbClr val="FFFFFF"/>
                    </a:solidFill>
                  </a:tcPr>
                </a:tc>
                <a:tc>
                  <a:txBody>
                    <a:bodyPr wrap="square"/>
                    <a:lstStyle/>
                    <a:p>
                      <a:r>
                        <a:rPr sz="1200" b="0">
                          <a:solidFill>
                            <a:srgbClr val="64748B"/>
                          </a:solidFill>
                          <a:latin typeface="Inter"/>
                        </a:rPr>
                        <a:t>Written policy, appeal path, loss reserve, liability cap in ToS.</a:t>
                      </a:r>
                    </a:p>
                  </a:txBody>
                  <a:tcPr anchor="ctr" marL="128016" marR="91440">
                    <a:solidFill>
                      <a:srgbClr val="FFFFFF"/>
                    </a:solidFill>
                  </a:tcPr>
                </a:tc>
              </a:tr>
            </a:tbl>
          </a:graphicData>
        </a:graphic>
      </p:graphicFrame>
      <p:sp>
        <p:nvSpPr>
          <p:cNvPr id="6" name="TextBox 5"/>
          <p:cNvSpPr txBox="1"/>
          <p:nvPr/>
        </p:nvSpPr>
        <p:spPr>
          <a:xfrm>
            <a:off x="777240" y="6446520"/>
            <a:ext cx="5486400" cy="274320"/>
          </a:xfrm>
          <a:prstGeom prst="rect">
            <a:avLst/>
          </a:prstGeom>
          <a:noFill/>
        </p:spPr>
        <p:txBody>
          <a:bodyPr wrap="square" lIns="0" rIns="0" tIns="0" bIns="0">
            <a:spAutoFit/>
          </a:bodyPr>
          <a:lstStyle/>
          <a:p>
            <a:pPr algn="l">
              <a:spcBef>
                <a:spcPts val="0"/>
              </a:spcBef>
              <a:spcAft>
                <a:spcPts val="0"/>
              </a:spcAft>
            </a:pPr>
            <a:r>
              <a:rPr sz="1000" b="0">
                <a:solidFill>
                  <a:srgbClr val="94A3B8"/>
                </a:solidFill>
                <a:latin typeface="Inter"/>
              </a:rPr>
              <a:t>Croe · Appendix</a:t>
            </a:r>
          </a:p>
        </p:txBody>
      </p:sp>
      <p:sp>
        <p:nvSpPr>
          <p:cNvPr id="7" name="TextBox 6"/>
          <p:cNvSpPr txBox="1"/>
          <p:nvPr/>
        </p:nvSpPr>
        <p:spPr>
          <a:xfrm>
            <a:off x="10972800" y="6446520"/>
            <a:ext cx="457200" cy="274320"/>
          </a:xfrm>
          <a:prstGeom prst="rect">
            <a:avLst/>
          </a:prstGeom>
          <a:noFill/>
        </p:spPr>
        <p:txBody>
          <a:bodyPr wrap="square" lIns="0" rIns="0" tIns="0" bIns="0">
            <a:spAutoFit/>
          </a:bodyPr>
          <a:lstStyle/>
          <a:p>
            <a:pPr algn="r">
              <a:spcBef>
                <a:spcPts val="0"/>
              </a:spcBef>
              <a:spcAft>
                <a:spcPts val="0"/>
              </a:spcAft>
            </a:pPr>
            <a:r>
              <a:rPr sz="1000" b="0">
                <a:solidFill>
                  <a:srgbClr val="94A3B8"/>
                </a:solidFill>
                <a:latin typeface="Inter"/>
              </a:rPr>
              <a:t>A5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