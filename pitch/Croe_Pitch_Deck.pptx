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then move: 'Croe makes it safe to buy and sell on WhatsApp and Instagram in Ghana, by holding the buyer's Mobile Money until the goods actually arrive.'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this personal: everyone who has bought or sold on Instagram in Ghana has experienced this standoff. This is a STRUCTURAL failure of social commerce, not bad luck.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MoMo's finality is a FEATURE for peer transfers, and a CATASTROPHE for commerce between strangers. That missing trust layer is Croe.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ZERO behavior change for the buyer. No new app needed to pay; standard MoMo USSD prompt. The vendor sees the money is locked but cannot touch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fintech pitches at this stage have a Figma mockup. Croe has a fully implemented, tested backend and mobile app with 354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decides the pitch. Investors in African fintech know Act 987. Answering the regulatory question upfront separates us from naive attempts.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CustodyProvider abstraction means escrow logic never touches an aggregator SDK directly. A bank partner provides compliance and float holding.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support destroys unit economics on small orders. Automating Tier 1 and 2 is what makes Croe profitable on GHS 1,200 orders.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uncomfortable part first: MoMo collection costs 1.95% and each payout GHS 1.00, so a 2% fee would lose GHS 4-7 on every order. At 4% all-in (2.5% vendor + 1.5% buyer protection fee) net is 1.29% on a GHS 800 order. Against a fully staffed month-36 cost base of GHS 637k/month, company break-even is ~62,000 orders/month. Levers: a 5% fee (~34,800), direct telco rails via our own PSP licence (~34,500), high-ticket vendors (~37,900 at GHS 1,200). Buyer acceptance of the 1.5% fee is the first thing the pilot 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Buyers won't search an app store for an escrow app. Vendors recruit buyers because Croe closes sales they are currently losing.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straightforwardly honest: we are pre-revenue. In fintech, one invented number ends the conversation. We know the exact numbers that prove or kill this business.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the number to the milestone. Pre-seed US$387k (range US$189k-713k) covers stages 1-2 over 18 months, with 15% contingency and working capital; FX US$1 = GHS 11.60. Most of stage 2 is people: the BoG names five management roles in its licensing pack. A seed round of ~US$916k around month 15 funds scale to ~30,000 orders/month; US$1.30M total over 36 months. Line items and sources: FINANCIAL-MODEL.md.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slides are for Q&amp;A, not for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a student built this: answer with the 28-document specification package and phase-gate discipline. Offer the spec package as the diligence pack.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that financial integrity is handled at the database and architecture level, not assumed in application memory.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Volunteering risks with concrete mitigations signals competence and maturity.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Currency and rails sit behind clean abstractions. Kenya and Nigeria are modular PaymentRail additions, not codebase rewrites.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answers crisp, confident, and grounded in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roe_wordmark_light.png"/>
          <p:cNvPicPr>
            <a:picLocks noChangeAspect="1"/>
          </p:cNvPicPr>
          <p:nvPr/>
        </p:nvPicPr>
        <p:blipFill>
          <a:blip r:embed="rId2"/>
          <a:stretch>
            <a:fillRect/>
          </a:stretch>
        </p:blipFill>
        <p:spPr>
          <a:xfrm>
            <a:off x="1097280" y="2011680"/>
            <a:ext cx="3200400" cy="971688"/>
          </a:xfrm>
          <a:prstGeom prst="rect">
            <a:avLst/>
          </a:prstGeom>
        </p:spPr>
      </p:pic>
      <p:sp>
        <p:nvSpPr>
          <p:cNvPr id="4" name="TextBox 3"/>
          <p:cNvSpPr txBox="1"/>
          <p:nvPr/>
        </p:nvSpPr>
        <p:spPr>
          <a:xfrm>
            <a:off x="1051560" y="2926080"/>
            <a:ext cx="9601200" cy="2011680"/>
          </a:xfrm>
          <a:prstGeom prst="rect">
            <a:avLst/>
          </a:prstGeom>
          <a:noFill/>
        </p:spPr>
        <p:txBody>
          <a:bodyPr wrap="square">
            <a:spAutoFit/>
          </a:bodyPr>
          <a:lstStyle/>
          <a:p>
            <a:pPr>
              <a:defRPr sz="4400" b="1">
                <a:solidFill>
                  <a:srgbClr val="FFFFFF"/>
                </a:solidFill>
                <a:latin typeface="Segoe UI"/>
              </a:defRPr>
            </a:pPr>
            <a:r>
              <a:t>Escrow for social commerce, on Mobile Money.</a:t>
            </a:r>
          </a:p>
          <a:p>
            <a:pPr>
              <a:spcBef>
                <a:spcPts val="2000"/>
              </a:spcBef>
              <a:defRPr sz="2200">
                <a:solidFill>
                  <a:srgbClr val="94A3B8"/>
                </a:solidFill>
                <a:latin typeface="Segoe UI"/>
              </a:defRPr>
            </a:pPr>
            <a:r>
              <a:t>Eliminating the 'you send first' standoff that kills WhatsApp &amp; Instagram sales in Ghana.</a:t>
            </a:r>
          </a:p>
        </p:txBody>
      </p:sp>
      <p:sp>
        <p:nvSpPr>
          <p:cNvPr id="5" name="TextBox 4"/>
          <p:cNvSpPr txBox="1"/>
          <p:nvPr/>
        </p:nvSpPr>
        <p:spPr>
          <a:xfrm>
            <a:off x="1051560" y="5486400"/>
            <a:ext cx="9326880" cy="457200"/>
          </a:xfrm>
          <a:prstGeom prst="rect">
            <a:avLst/>
          </a:prstGeom>
          <a:noFill/>
        </p:spPr>
        <p:txBody>
          <a:bodyPr wrap="none">
            <a:spAutoFit/>
          </a:bodyPr>
          <a:lstStyle/>
          <a:p>
            <a:pPr>
              <a:defRPr sz="1400">
                <a:solidFill>
                  <a:srgbClr val="1FC16B"/>
                </a:solidFill>
                <a:latin typeface="Segoe UI"/>
              </a:defRPr>
            </a:pPr>
            <a:r>
              <a:t>Founding Team  ·  founders@croe.app  ·  Accra, Ghana  ·  Pre-Seed / Pilot Stage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01 / THE FRICTION POINT</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Every social commerce sale starts with a standoff.</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4114800" cy="3200400"/>
          </a:xfrm>
          <a:prstGeom prst="rect">
            <a:avLst/>
          </a:prstGeom>
          <a:noFill/>
        </p:spPr>
        <p:txBody>
          <a:bodyPr wrap="square">
            <a:spAutoFit/>
          </a:bodyPr>
          <a:lstStyle/>
          <a:p>
            <a:pPr>
              <a:defRPr b="1" sz="1800">
                <a:solidFill>
                  <a:srgbClr val="0F172A"/>
                </a:solidFill>
              </a:defRPr>
            </a:pPr>
            <a:r>
              <a:t>The Deadlock</a:t>
            </a:r>
          </a:p>
          <a:p>
            <a:pPr>
              <a:spcBef>
                <a:spcPts val="2000"/>
              </a:spcBef>
              <a:defRPr sz="1600">
                <a:solidFill>
                  <a:srgbClr val="334155"/>
                </a:solidFill>
              </a:defRPr>
            </a:pPr>
            <a:r>
              <a:t>Vendor:</a:t>
            </a:r>
            <a:br/>
            <a:r>
              <a:t>"Please send the MoMo first so I can dispatch the rider."</a:t>
            </a:r>
          </a:p>
          <a:p>
            <a:pPr>
              <a:spcBef>
                <a:spcPts val="2000"/>
              </a:spcBef>
              <a:defRPr sz="1600" b="0">
                <a:solidFill>
                  <a:srgbClr val="334155"/>
                </a:solidFill>
              </a:defRPr>
            </a:pPr>
            <a:r>
              <a:t>Buyer:</a:t>
            </a:r>
            <a:br/>
            <a:r>
              <a:t>"No - send the goods first, then I'll send the money."</a:t>
            </a:r>
          </a:p>
          <a:p>
            <a:pPr>
              <a:spcBef>
                <a:spcPts val="3000"/>
              </a:spcBef>
              <a:defRPr b="1" sz="1600">
                <a:solidFill>
                  <a:srgbClr val="1FC16B"/>
                </a:solidFill>
              </a:defRPr>
            </a:pPr>
            <a:r>
              <a:t>Result: 25%–30% of sales abandoned right here.</a:t>
            </a:r>
          </a:p>
        </p:txBody>
      </p:sp>
      <p:sp>
        <p:nvSpPr>
          <p:cNvPr id="8" name="Rectangle 7"/>
          <p:cNvSpPr/>
          <p:nvPr/>
        </p:nvSpPr>
        <p:spPr>
          <a:xfrm>
            <a:off x="5852160" y="2560320"/>
            <a:ext cx="12700" cy="32004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560320"/>
            <a:ext cx="4572000" cy="1371600"/>
          </a:xfrm>
          <a:prstGeom prst="rect">
            <a:avLst/>
          </a:prstGeom>
          <a:noFill/>
        </p:spPr>
        <p:txBody>
          <a:bodyPr wrap="square">
            <a:spAutoFit/>
          </a:bodyPr>
          <a:lstStyle/>
          <a:p>
            <a:pPr>
              <a:defRPr b="1" sz="1800">
                <a:solidFill>
                  <a:srgbClr val="DC2626"/>
                </a:solidFill>
              </a:defRPr>
            </a:pPr>
            <a:r>
              <a:t>The Buyer's Trap</a:t>
            </a:r>
          </a:p>
          <a:p>
            <a:pPr>
              <a:spcBef>
                <a:spcPts val="1200"/>
              </a:spcBef>
              <a:defRPr sz="1500">
                <a:solidFill>
                  <a:srgbClr val="334155"/>
                </a:solidFill>
              </a:defRPr>
            </a:pPr>
            <a:r>
              <a:t>Buyers get scammed with zero recourse. No enforceable receipt, no neutral arbiter, and no way to reverse a Mobile Money transfer once initiated.</a:t>
            </a:r>
          </a:p>
        </p:txBody>
      </p:sp>
      <p:sp>
        <p:nvSpPr>
          <p:cNvPr id="10" name="TextBox 9"/>
          <p:cNvSpPr txBox="1"/>
          <p:nvPr/>
        </p:nvSpPr>
        <p:spPr>
          <a:xfrm>
            <a:off x="6583680" y="4389120"/>
            <a:ext cx="4572000" cy="1371600"/>
          </a:xfrm>
          <a:prstGeom prst="rect">
            <a:avLst/>
          </a:prstGeom>
          <a:noFill/>
        </p:spPr>
        <p:txBody>
          <a:bodyPr wrap="square">
            <a:spAutoFit/>
          </a:bodyPr>
          <a:lstStyle/>
          <a:p>
            <a:pPr>
              <a:defRPr b="1" sz="1800">
                <a:solidFill>
                  <a:srgbClr val="2563EB"/>
                </a:solidFill>
              </a:defRPr>
            </a:pPr>
            <a:r>
              <a:t>The Vendor's Dilemma</a:t>
            </a:r>
          </a:p>
          <a:p>
            <a:pPr>
              <a:spcBef>
                <a:spcPts val="1200"/>
              </a:spcBef>
              <a:defRPr sz="1500">
                <a:solidFill>
                  <a:srgbClr val="334155"/>
                </a:solidFill>
              </a:defRPr>
            </a:pPr>
            <a:r>
              <a:t>Vendors eat cash-on-delivery rejections, pay wasted dispatch rider fees, and battle fake payment screenshots. Trusting a stranger means risking stock.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02 / MARKET REALITY</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The payment rail works. The trust layer does not exist.</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2926080" cy="365760"/>
          </a:xfrm>
          <a:prstGeom prst="rect">
            <a:avLst/>
          </a:prstGeom>
          <a:noFill/>
        </p:spPr>
        <p:txBody>
          <a:bodyPr wrap="none">
            <a:spAutoFit/>
          </a:bodyPr>
          <a:lstStyle/>
          <a:p>
            <a:pPr>
              <a:defRPr sz="1100" b="1">
                <a:solidFill>
                  <a:srgbClr val="2563EB"/>
                </a:solidFill>
              </a:defRPr>
            </a:pPr>
            <a:r>
              <a:t>MTN, TELECEL, AIRTELTIGO</a:t>
            </a:r>
          </a:p>
        </p:txBody>
      </p:sp>
      <p:sp>
        <p:nvSpPr>
          <p:cNvPr id="8" name="TextBox 7"/>
          <p:cNvSpPr txBox="1"/>
          <p:nvPr/>
        </p:nvSpPr>
        <p:spPr>
          <a:xfrm>
            <a:off x="1097280" y="2926080"/>
            <a:ext cx="3017520" cy="2743200"/>
          </a:xfrm>
          <a:prstGeom prst="rect">
            <a:avLst/>
          </a:prstGeom>
          <a:noFill/>
        </p:spPr>
        <p:txBody>
          <a:bodyPr wrap="square">
            <a:spAutoFit/>
          </a:bodyPr>
          <a:lstStyle/>
          <a:p>
            <a:pPr>
              <a:defRPr b="1" sz="2000">
                <a:solidFill>
                  <a:srgbClr val="0F172A"/>
                </a:solidFill>
              </a:defRPr>
            </a:pPr>
            <a:r>
              <a:t>MoMo is Universal</a:t>
            </a:r>
          </a:p>
          <a:p>
            <a:pPr>
              <a:spcBef>
                <a:spcPts val="1600"/>
              </a:spcBef>
              <a:defRPr sz="1500">
                <a:solidFill>
                  <a:srgbClr val="334155"/>
                </a:solidFill>
              </a:defRPr>
            </a:pPr>
            <a:r>
              <a:t>20M+ registered Mobile Money accounts in Ghana. Almost every merchant and buyer already carries a digital wallet.</a:t>
            </a:r>
          </a:p>
        </p:txBody>
      </p:sp>
      <p:sp>
        <p:nvSpPr>
          <p:cNvPr id="9" name="TextBox 8"/>
          <p:cNvSpPr txBox="1"/>
          <p:nvPr/>
        </p:nvSpPr>
        <p:spPr>
          <a:xfrm>
            <a:off x="4480560" y="2560320"/>
            <a:ext cx="2926080" cy="365760"/>
          </a:xfrm>
          <a:prstGeom prst="rect">
            <a:avLst/>
          </a:prstGeom>
          <a:noFill/>
        </p:spPr>
        <p:txBody>
          <a:bodyPr wrap="none">
            <a:spAutoFit/>
          </a:bodyPr>
          <a:lstStyle/>
          <a:p>
            <a:pPr>
              <a:defRPr sz="1100" b="1">
                <a:solidFill>
                  <a:srgbClr val="DC2626"/>
                </a:solidFill>
              </a:defRPr>
            </a:pPr>
            <a:r>
              <a:t>IRREVERSIBLE P2P TRANSFERS</a:t>
            </a:r>
          </a:p>
        </p:txBody>
      </p:sp>
      <p:sp>
        <p:nvSpPr>
          <p:cNvPr id="10" name="TextBox 9"/>
          <p:cNvSpPr txBox="1"/>
          <p:nvPr/>
        </p:nvSpPr>
        <p:spPr>
          <a:xfrm>
            <a:off x="4480560" y="2926080"/>
            <a:ext cx="3017520" cy="2743200"/>
          </a:xfrm>
          <a:prstGeom prst="rect">
            <a:avLst/>
          </a:prstGeom>
          <a:noFill/>
        </p:spPr>
        <p:txBody>
          <a:bodyPr wrap="square">
            <a:spAutoFit/>
          </a:bodyPr>
          <a:lstStyle/>
          <a:p>
            <a:pPr>
              <a:defRPr b="1" sz="2000">
                <a:solidFill>
                  <a:srgbClr val="0F172A"/>
                </a:solidFill>
              </a:defRPr>
            </a:pPr>
            <a:r>
              <a:t>MoMo is Final by Design</a:t>
            </a:r>
          </a:p>
          <a:p>
            <a:pPr>
              <a:spcBef>
                <a:spcPts val="1600"/>
              </a:spcBef>
              <a:defRPr sz="1500">
                <a:solidFill>
                  <a:srgbClr val="334155"/>
                </a:solidFill>
              </a:defRPr>
            </a:pPr>
            <a:r>
              <a:t>Once sent, MoMo is gone. No chargebacks, no disputes. What makes it great for sending money to family makes it catastrophic for trade between strangers.</a:t>
            </a:r>
          </a:p>
        </p:txBody>
      </p:sp>
      <p:sp>
        <p:nvSpPr>
          <p:cNvPr id="11" name="TextBox 10"/>
          <p:cNvSpPr txBox="1"/>
          <p:nvPr/>
        </p:nvSpPr>
        <p:spPr>
          <a:xfrm>
            <a:off x="7863840" y="2560320"/>
            <a:ext cx="2926080" cy="365760"/>
          </a:xfrm>
          <a:prstGeom prst="rect">
            <a:avLst/>
          </a:prstGeom>
          <a:noFill/>
        </p:spPr>
        <p:txBody>
          <a:bodyPr wrap="none">
            <a:spAutoFit/>
          </a:bodyPr>
          <a:lstStyle/>
          <a:p>
            <a:pPr>
              <a:defRPr sz="1100" b="1">
                <a:solidFill>
                  <a:srgbClr val="1FC16B"/>
                </a:solidFill>
              </a:defRPr>
            </a:pPr>
            <a:r>
              <a:t>FRAUD AS AN OVERHEAD</a:t>
            </a:r>
          </a:p>
        </p:txBody>
      </p:sp>
      <p:sp>
        <p:nvSpPr>
          <p:cNvPr id="12" name="TextBox 11"/>
          <p:cNvSpPr txBox="1"/>
          <p:nvPr/>
        </p:nvSpPr>
        <p:spPr>
          <a:xfrm>
            <a:off x="7863840" y="2926080"/>
            <a:ext cx="3017520" cy="2743200"/>
          </a:xfrm>
          <a:prstGeom prst="rect">
            <a:avLst/>
          </a:prstGeom>
          <a:noFill/>
        </p:spPr>
        <p:txBody>
          <a:bodyPr wrap="square">
            <a:spAutoFit/>
          </a:bodyPr>
          <a:lstStyle/>
          <a:p>
            <a:pPr>
              <a:defRPr b="1" sz="2000">
                <a:solidFill>
                  <a:srgbClr val="0F172A"/>
                </a:solidFill>
              </a:defRPr>
            </a:pPr>
            <a:r>
              <a:t>Commerce Absorbed the Cost</a:t>
            </a:r>
          </a:p>
          <a:p>
            <a:pPr>
              <a:spcBef>
                <a:spcPts val="1600"/>
              </a:spcBef>
              <a:defRPr sz="1500">
                <a:solidFill>
                  <a:srgbClr val="334155"/>
                </a:solidFill>
              </a:defRPr>
            </a:pPr>
            <a:r>
              <a:t>Card networks solved stranger commerce with chargebacks 40 years ago. Mobile money never got that layer. Social commerce absorbed fraud as a cost of doing business.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03 / THE CROE SOLUTION</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Croe holds the money until the goods arrive.</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2194560" cy="457200"/>
          </a:xfrm>
          <a:prstGeom prst="rect">
            <a:avLst/>
          </a:prstGeom>
          <a:noFill/>
        </p:spPr>
        <p:txBody>
          <a:bodyPr wrap="none">
            <a:spAutoFit/>
          </a:bodyPr>
          <a:lstStyle/>
          <a:p>
            <a:pPr>
              <a:defRPr b="1" sz="1400">
                <a:solidFill>
                  <a:srgbClr val="1FC16B"/>
                </a:solidFill>
              </a:defRPr>
            </a:pPr>
            <a:r>
              <a:t>01 - LINK</a:t>
            </a:r>
          </a:p>
        </p:txBody>
      </p:sp>
      <p:sp>
        <p:nvSpPr>
          <p:cNvPr id="8" name="TextBox 7"/>
          <p:cNvSpPr txBox="1"/>
          <p:nvPr/>
        </p:nvSpPr>
        <p:spPr>
          <a:xfrm>
            <a:off x="1097280" y="3108960"/>
            <a:ext cx="2194560" cy="2743200"/>
          </a:xfrm>
          <a:prstGeom prst="rect">
            <a:avLst/>
          </a:prstGeom>
          <a:noFill/>
        </p:spPr>
        <p:txBody>
          <a:bodyPr wrap="square">
            <a:spAutoFit/>
          </a:bodyPr>
          <a:lstStyle/>
          <a:p>
            <a:pPr>
              <a:defRPr b="1" sz="1800">
                <a:solidFill>
                  <a:srgbClr val="0F172A"/>
                </a:solidFill>
              </a:defRPr>
            </a:pPr>
            <a:r>
              <a:t>Vendor generates link</a:t>
            </a:r>
          </a:p>
          <a:p>
            <a:pPr>
              <a:spcBef>
                <a:spcPts val="1200"/>
              </a:spcBef>
              <a:defRPr sz="1400">
                <a:solidFill>
                  <a:srgbClr val="334155"/>
                </a:solidFill>
              </a:defRPr>
            </a:pPr>
            <a:r>
              <a:t>Shared directly in the WhatsApp / Instagram chat where the sale is happening.</a:t>
            </a:r>
          </a:p>
        </p:txBody>
      </p:sp>
      <p:sp>
        <p:nvSpPr>
          <p:cNvPr id="9" name="TextBox 8"/>
          <p:cNvSpPr txBox="1"/>
          <p:nvPr/>
        </p:nvSpPr>
        <p:spPr>
          <a:xfrm>
            <a:off x="3566160" y="2560320"/>
            <a:ext cx="2194560" cy="457200"/>
          </a:xfrm>
          <a:prstGeom prst="rect">
            <a:avLst/>
          </a:prstGeom>
          <a:noFill/>
        </p:spPr>
        <p:txBody>
          <a:bodyPr wrap="none">
            <a:spAutoFit/>
          </a:bodyPr>
          <a:lstStyle/>
          <a:p>
            <a:pPr>
              <a:defRPr b="1" sz="1400">
                <a:solidFill>
                  <a:srgbClr val="1FC16B"/>
                </a:solidFill>
              </a:defRPr>
            </a:pPr>
            <a:r>
              <a:t>02 - PAY</a:t>
            </a:r>
          </a:p>
        </p:txBody>
      </p:sp>
      <p:sp>
        <p:nvSpPr>
          <p:cNvPr id="10" name="TextBox 9"/>
          <p:cNvSpPr txBox="1"/>
          <p:nvPr/>
        </p:nvSpPr>
        <p:spPr>
          <a:xfrm>
            <a:off x="3566160" y="3108960"/>
            <a:ext cx="2194560" cy="2743200"/>
          </a:xfrm>
          <a:prstGeom prst="rect">
            <a:avLst/>
          </a:prstGeom>
          <a:noFill/>
        </p:spPr>
        <p:txBody>
          <a:bodyPr wrap="square">
            <a:spAutoFit/>
          </a:bodyPr>
          <a:lstStyle/>
          <a:p>
            <a:pPr>
              <a:defRPr b="1" sz="1800">
                <a:solidFill>
                  <a:srgbClr val="0F172A"/>
                </a:solidFill>
              </a:defRPr>
            </a:pPr>
            <a:r>
              <a:t>Buyer pays via MoMo</a:t>
            </a:r>
          </a:p>
          <a:p>
            <a:pPr>
              <a:spcBef>
                <a:spcPts val="1200"/>
              </a:spcBef>
              <a:defRPr sz="1400">
                <a:solidFill>
                  <a:srgbClr val="334155"/>
                </a:solidFill>
              </a:defRPr>
            </a:pPr>
            <a:r>
              <a:t>Standard USSD prompt. Funds are secured in escrow - vendor sees it, but cannot touch it.</a:t>
            </a:r>
          </a:p>
        </p:txBody>
      </p:sp>
      <p:sp>
        <p:nvSpPr>
          <p:cNvPr id="11" name="TextBox 10"/>
          <p:cNvSpPr txBox="1"/>
          <p:nvPr/>
        </p:nvSpPr>
        <p:spPr>
          <a:xfrm>
            <a:off x="6035040" y="2560320"/>
            <a:ext cx="2194560" cy="457200"/>
          </a:xfrm>
          <a:prstGeom prst="rect">
            <a:avLst/>
          </a:prstGeom>
          <a:noFill/>
        </p:spPr>
        <p:txBody>
          <a:bodyPr wrap="none">
            <a:spAutoFit/>
          </a:bodyPr>
          <a:lstStyle/>
          <a:p>
            <a:pPr>
              <a:defRPr b="1" sz="1400">
                <a:solidFill>
                  <a:srgbClr val="1FC16B"/>
                </a:solidFill>
              </a:defRPr>
            </a:pPr>
            <a:r>
              <a:t>03 - SHIP</a:t>
            </a:r>
          </a:p>
        </p:txBody>
      </p:sp>
      <p:sp>
        <p:nvSpPr>
          <p:cNvPr id="12" name="TextBox 11"/>
          <p:cNvSpPr txBox="1"/>
          <p:nvPr/>
        </p:nvSpPr>
        <p:spPr>
          <a:xfrm>
            <a:off x="6035040" y="3108960"/>
            <a:ext cx="2194560" cy="2743200"/>
          </a:xfrm>
          <a:prstGeom prst="rect">
            <a:avLst/>
          </a:prstGeom>
          <a:noFill/>
        </p:spPr>
        <p:txBody>
          <a:bodyPr wrap="square">
            <a:spAutoFit/>
          </a:bodyPr>
          <a:lstStyle/>
          <a:p>
            <a:pPr>
              <a:defRPr b="1" sz="1800">
                <a:solidFill>
                  <a:srgbClr val="0F172A"/>
                </a:solidFill>
              </a:defRPr>
            </a:pPr>
            <a:r>
              <a:t>Vendor dispatches</a:t>
            </a:r>
          </a:p>
          <a:p>
            <a:pPr>
              <a:spcBef>
                <a:spcPts val="1200"/>
              </a:spcBef>
              <a:defRPr sz="1400">
                <a:solidFill>
                  <a:srgbClr val="334155"/>
                </a:solidFill>
              </a:defRPr>
            </a:pPr>
            <a:r>
              <a:t>Vendor dispatches goods against guaranteed money instead of an empty promise.</a:t>
            </a:r>
          </a:p>
        </p:txBody>
      </p:sp>
      <p:sp>
        <p:nvSpPr>
          <p:cNvPr id="13" name="TextBox 12"/>
          <p:cNvSpPr txBox="1"/>
          <p:nvPr/>
        </p:nvSpPr>
        <p:spPr>
          <a:xfrm>
            <a:off x="8503920" y="2560320"/>
            <a:ext cx="2194560" cy="457200"/>
          </a:xfrm>
          <a:prstGeom prst="rect">
            <a:avLst/>
          </a:prstGeom>
          <a:noFill/>
        </p:spPr>
        <p:txBody>
          <a:bodyPr wrap="none">
            <a:spAutoFit/>
          </a:bodyPr>
          <a:lstStyle/>
          <a:p>
            <a:pPr>
              <a:defRPr b="1" sz="1400">
                <a:solidFill>
                  <a:srgbClr val="1FC16B"/>
                </a:solidFill>
              </a:defRPr>
            </a:pPr>
            <a:r>
              <a:t>04 - RELEASE</a:t>
            </a:r>
          </a:p>
        </p:txBody>
      </p:sp>
      <p:sp>
        <p:nvSpPr>
          <p:cNvPr id="14" name="TextBox 13"/>
          <p:cNvSpPr txBox="1"/>
          <p:nvPr/>
        </p:nvSpPr>
        <p:spPr>
          <a:xfrm>
            <a:off x="8503920" y="3108960"/>
            <a:ext cx="2194560" cy="2743200"/>
          </a:xfrm>
          <a:prstGeom prst="rect">
            <a:avLst/>
          </a:prstGeom>
          <a:noFill/>
        </p:spPr>
        <p:txBody>
          <a:bodyPr wrap="square">
            <a:spAutoFit/>
          </a:bodyPr>
          <a:lstStyle/>
          <a:p>
            <a:pPr>
              <a:defRPr b="1" sz="1800">
                <a:solidFill>
                  <a:srgbClr val="0F172A"/>
                </a:solidFill>
              </a:defRPr>
            </a:pPr>
            <a:r>
              <a:t>Delivery confirmed</a:t>
            </a:r>
          </a:p>
          <a:p>
            <a:pPr>
              <a:spcBef>
                <a:spcPts val="1200"/>
              </a:spcBef>
              <a:defRPr sz="1400">
                <a:solidFill>
                  <a:srgbClr val="334155"/>
                </a:solidFill>
              </a:defRPr>
            </a:pPr>
            <a:r>
              <a:t>Buyer confirms delivery in app; vendor is paid automatically, less 2.5% commission.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04 / PRODUCT ARCHITECTURE</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It's built. Not a prototype.</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5029200" cy="3840480"/>
          </a:xfrm>
          <a:prstGeom prst="rect">
            <a:avLst/>
          </a:prstGeom>
          <a:noFill/>
        </p:spPr>
        <p:txBody>
          <a:bodyPr wrap="square">
            <a:spAutoFit/>
          </a:bodyPr>
          <a:lstStyle/>
          <a:p>
            <a:pPr>
              <a:defRPr b="1" sz="2000">
                <a:solidFill>
                  <a:srgbClr val="2563EB"/>
                </a:solidFill>
              </a:defRPr>
            </a:pPr>
            <a:r>
              <a:t>Engineered for Financial Rigor</a:t>
            </a:r>
          </a:p>
          <a:p>
            <a:pPr>
              <a:spcBef>
                <a:spcPts val="1200"/>
              </a:spcBef>
              <a:defRPr sz="1400">
                <a:solidFill>
                  <a:srgbClr val="334155"/>
                </a:solidFill>
              </a:defRPr>
            </a:pPr>
            <a:r>
              <a:t>•  14-state escrow machine with append-only financial ledger</a:t>
            </a:r>
          </a:p>
          <a:p>
            <a:pPr>
              <a:spcBef>
                <a:spcPts val="1200"/>
              </a:spcBef>
              <a:defRPr sz="1400">
                <a:solidFill>
                  <a:srgbClr val="334155"/>
                </a:solidFill>
              </a:defRPr>
            </a:pPr>
            <a:r>
              <a:t>•  UPDATE / DELETE permanently revoked at PostgreSQL role level</a:t>
            </a:r>
          </a:p>
          <a:p>
            <a:pPr>
              <a:spcBef>
                <a:spcPts val="1200"/>
              </a:spcBef>
              <a:defRPr sz="1400">
                <a:solidFill>
                  <a:srgbClr val="334155"/>
                </a:solidFill>
              </a:defRPr>
            </a:pPr>
            <a:r>
              <a:t>•  Raw-body HMAC verification with 300s replay window defense</a:t>
            </a:r>
          </a:p>
          <a:p>
            <a:pPr>
              <a:spcBef>
                <a:spcPts val="1200"/>
              </a:spcBef>
              <a:defRPr sz="1400">
                <a:solidFill>
                  <a:srgbClr val="334155"/>
                </a:solidFill>
              </a:defRPr>
            </a:pPr>
            <a:r>
              <a:t>•  Distributed Redis fast dedup + durable inbox queue</a:t>
            </a:r>
          </a:p>
          <a:p>
            <a:pPr>
              <a:spcBef>
                <a:spcPts val="1200"/>
              </a:spcBef>
              <a:defRPr sz="1400">
                <a:solidFill>
                  <a:srgbClr val="334155"/>
                </a:solidFill>
              </a:defRPr>
            </a:pPr>
            <a:r>
              <a:t>•  Tiered KYC verification (Tier 0 phone OTP to Tier 2 EDD)</a:t>
            </a:r>
          </a:p>
          <a:p>
            <a:pPr>
              <a:spcBef>
                <a:spcPts val="1200"/>
              </a:spcBef>
              <a:defRPr sz="1400">
                <a:solidFill>
                  <a:srgbClr val="334155"/>
                </a:solidFill>
              </a:defRPr>
            </a:pPr>
            <a:r>
              <a:t>•  SHA-256 cryptographic media hashing catching recycled fraud</a:t>
            </a:r>
          </a:p>
          <a:p>
            <a:pPr>
              <a:spcBef>
                <a:spcPts val="1200"/>
              </a:spcBef>
              <a:defRPr sz="1400">
                <a:solidFill>
                  <a:srgbClr val="334155"/>
                </a:solidFill>
              </a:defRPr>
            </a:pPr>
            <a:r>
              <a:t>•  Daily automated 3-way reconciliation (bank / ledger / provider)</a:t>
            </a:r>
          </a:p>
        </p:txBody>
      </p:sp>
      <p:sp>
        <p:nvSpPr>
          <p:cNvPr id="8" name="TextBox 7"/>
          <p:cNvSpPr txBox="1"/>
          <p:nvPr/>
        </p:nvSpPr>
        <p:spPr>
          <a:xfrm>
            <a:off x="6949440" y="2560320"/>
            <a:ext cx="4114800" cy="1371600"/>
          </a:xfrm>
          <a:prstGeom prst="rect">
            <a:avLst/>
          </a:prstGeom>
          <a:noFill/>
        </p:spPr>
        <p:txBody>
          <a:bodyPr wrap="none">
            <a:spAutoFit/>
          </a:bodyPr>
          <a:lstStyle/>
          <a:p>
            <a:pPr>
              <a:defRPr sz="7200" b="1">
                <a:solidFill>
                  <a:srgbClr val="1FC16B"/>
                </a:solidFill>
                <a:latin typeface="Segoe UI"/>
              </a:defRPr>
            </a:pPr>
            <a:r>
              <a:t>354</a:t>
            </a:r>
          </a:p>
          <a:p>
            <a:pPr>
              <a:defRPr b="1" sz="1600">
                <a:solidFill>
                  <a:srgbClr val="0F172A"/>
                </a:solidFill>
              </a:defRPr>
            </a:pPr>
            <a:r>
              <a:t>Automated tests passing in CI/CD</a:t>
            </a:r>
          </a:p>
        </p:txBody>
      </p:sp>
      <p:sp>
        <p:nvSpPr>
          <p:cNvPr id="9" name="TextBox 8"/>
          <p:cNvSpPr txBox="1"/>
          <p:nvPr/>
        </p:nvSpPr>
        <p:spPr>
          <a:xfrm>
            <a:off x="6949440" y="4206240"/>
            <a:ext cx="4389120" cy="2011680"/>
          </a:xfrm>
          <a:prstGeom prst="rect">
            <a:avLst/>
          </a:prstGeom>
          <a:noFill/>
        </p:spPr>
        <p:txBody>
          <a:bodyPr wrap="square">
            <a:spAutoFit/>
          </a:bodyPr>
          <a:lstStyle/>
          <a:p/>
          <a:p>
            <a:pPr>
              <a:spcBef>
                <a:spcPts val="1000"/>
              </a:spcBef>
              <a:defRPr sz="1400">
                <a:solidFill>
                  <a:srgbClr val="64748B"/>
                </a:solidFill>
              </a:defRPr>
            </a:pPr>
            <a:r>
              <a:t>✓  275 Backend Tests + 79 React Native Frontend Tests</a:t>
            </a:r>
          </a:p>
          <a:p>
            <a:pPr>
              <a:spcBef>
                <a:spcPts val="1000"/>
              </a:spcBef>
              <a:defRPr sz="1400">
                <a:solidFill>
                  <a:srgbClr val="64748B"/>
                </a:solidFill>
              </a:defRPr>
            </a:pPr>
            <a:r>
              <a:t>✓  50-concurrent webhook race test verified against double-deposit</a:t>
            </a:r>
          </a:p>
          <a:p>
            <a:pPr>
              <a:spcBef>
                <a:spcPts val="1000"/>
              </a:spcBef>
              <a:defRPr sz="1400">
                <a:solidFill>
                  <a:srgbClr val="64748B"/>
                </a:solidFill>
              </a:defRPr>
            </a:pPr>
            <a:r>
              <a:t>✓  Exact NUMERIC(15,2) decimal precision tested across all currencies</a:t>
            </a:r>
          </a:p>
          <a:p>
            <a:pPr>
              <a:spcBef>
                <a:spcPts val="1000"/>
              </a:spcBef>
              <a:defRPr sz="1400">
                <a:solidFill>
                  <a:srgbClr val="64748B"/>
                </a:solidFill>
              </a:defRPr>
            </a:pPr>
            <a:r>
              <a:t>✓  End-to-end sandbox deployment verified with mock aggregators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05 / REGULATORY STRATEGY</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Escrow is a regulated activity, not a feature.</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377440"/>
            <a:ext cx="9601200" cy="731520"/>
          </a:xfrm>
          <a:prstGeom prst="rect">
            <a:avLst/>
          </a:prstGeom>
          <a:noFill/>
        </p:spPr>
        <p:txBody>
          <a:bodyPr wrap="square">
            <a:spAutoFit/>
          </a:bodyPr>
          <a:lstStyle/>
          <a:p>
            <a:pPr>
              <a:defRPr b="1" sz="1600">
                <a:solidFill>
                  <a:srgbClr val="1FC16B"/>
                </a:solidFill>
              </a:defRPr>
            </a:pPr>
            <a:r>
              <a:t>Payment Systems and Services Act, 2019 (Act 987)</a:t>
            </a:r>
          </a:p>
          <a:p>
            <a:pPr>
              <a:spcBef>
                <a:spcPts val="800"/>
              </a:spcBef>
              <a:defRPr sz="1600">
                <a:solidFill>
                  <a:srgbClr val="334155"/>
                </a:solidFill>
              </a:defRPr>
            </a:pPr>
            <a:r>
              <a:t>Holding third-party funds in Ghana falls under Bank of Ghana regulation. Most escrow attempts fail either by ignoring the law and getting shut down, or by stalling for years trying to obtain an impossible licence.</a:t>
            </a:r>
          </a:p>
        </p:txBody>
      </p:sp>
      <p:sp>
        <p:nvSpPr>
          <p:cNvPr id="8" name="TextBox 7"/>
          <p:cNvSpPr txBox="1"/>
          <p:nvPr/>
        </p:nvSpPr>
        <p:spPr>
          <a:xfrm>
            <a:off x="1097280" y="3840480"/>
            <a:ext cx="4389120" cy="2743200"/>
          </a:xfrm>
          <a:prstGeom prst="rect">
            <a:avLst/>
          </a:prstGeom>
          <a:noFill/>
        </p:spPr>
        <p:txBody>
          <a:bodyPr wrap="square">
            <a:spAutoFit/>
          </a:bodyPr>
          <a:lstStyle/>
          <a:p>
            <a:pPr>
              <a:defRPr b="1" sz="1800">
                <a:solidFill>
                  <a:srgbClr val="DC2626"/>
                </a:solidFill>
              </a:defRPr>
            </a:pPr>
            <a:r>
              <a:t>What Competitors Do (and Fail)</a:t>
            </a:r>
          </a:p>
          <a:p>
            <a:pPr>
              <a:spcBef>
                <a:spcPts val="1200"/>
              </a:spcBef>
              <a:defRPr sz="1400">
                <a:solidFill>
                  <a:srgbClr val="334155"/>
                </a:solidFill>
              </a:defRPr>
            </a:pPr>
            <a:r>
              <a:t>✗  Operate unlicensed custody → Cease-and-desist from BoG</a:t>
            </a:r>
          </a:p>
          <a:p>
            <a:pPr>
              <a:spcBef>
                <a:spcPts val="1200"/>
              </a:spcBef>
              <a:defRPr sz="1400">
                <a:solidFill>
                  <a:srgbClr val="334155"/>
                </a:solidFill>
              </a:defRPr>
            </a:pPr>
            <a:r>
              <a:t>✗  Commingle customer float with operating capital</a:t>
            </a:r>
          </a:p>
          <a:p>
            <a:pPr>
              <a:spcBef>
                <a:spcPts val="1200"/>
              </a:spcBef>
              <a:defRPr sz="1400">
                <a:solidFill>
                  <a:srgbClr val="334155"/>
                </a:solidFill>
              </a:defRPr>
            </a:pPr>
            <a:r>
              <a:t>✗  Wait for full BoG licence → Millions in capital, multi-year stall</a:t>
            </a:r>
          </a:p>
          <a:p>
            <a:pPr>
              <a:spcBef>
                <a:spcPts val="1200"/>
              </a:spcBef>
              <a:defRPr sz="1400">
                <a:solidFill>
                  <a:srgbClr val="334155"/>
                </a:solidFill>
              </a:defRPr>
            </a:pPr>
            <a:r>
              <a:t>✗  Treat escrow as a pure UI feature on top of raw P2P transfers</a:t>
            </a:r>
          </a:p>
        </p:txBody>
      </p:sp>
      <p:sp>
        <p:nvSpPr>
          <p:cNvPr id="9" name="TextBox 8"/>
          <p:cNvSpPr txBox="1"/>
          <p:nvPr/>
        </p:nvSpPr>
        <p:spPr>
          <a:xfrm>
            <a:off x="6217920" y="3840480"/>
            <a:ext cx="4846320" cy="2743200"/>
          </a:xfrm>
          <a:prstGeom prst="rect">
            <a:avLst/>
          </a:prstGeom>
          <a:noFill/>
        </p:spPr>
        <p:txBody>
          <a:bodyPr wrap="square">
            <a:spAutoFit/>
          </a:bodyPr>
          <a:lstStyle/>
          <a:p>
            <a:pPr>
              <a:defRPr b="1" sz="1800">
                <a:solidFill>
                  <a:srgbClr val="2563EB"/>
                </a:solidFill>
              </a:defRPr>
            </a:pPr>
            <a:r>
              <a:t>The Croe Solution: Non-Custodial Tech</a:t>
            </a:r>
          </a:p>
          <a:p>
            <a:pPr>
              <a:spcBef>
                <a:spcPts val="1200"/>
              </a:spcBef>
              <a:defRPr sz="1400">
                <a:solidFill>
                  <a:srgbClr val="0F172A"/>
                </a:solidFill>
              </a:defRPr>
            </a:pPr>
            <a:r>
              <a:t>✓  Croe NEVER holds customer funds on its own corporate balance sheet</a:t>
            </a:r>
          </a:p>
          <a:p>
            <a:pPr>
              <a:spcBef>
                <a:spcPts val="1200"/>
              </a:spcBef>
              <a:defRPr sz="1400">
                <a:solidFill>
                  <a:srgbClr val="0F172A"/>
                </a:solidFill>
              </a:defRPr>
            </a:pPr>
            <a:r>
              <a:t>✓  Operates as a Technology Provider (PFTSP pathway under Act 987)</a:t>
            </a:r>
          </a:p>
          <a:p>
            <a:pPr>
              <a:spcBef>
                <a:spcPts val="1200"/>
              </a:spcBef>
              <a:defRPr sz="1400">
                <a:solidFill>
                  <a:srgbClr val="0F172A"/>
                </a:solidFill>
              </a:defRPr>
            </a:pPr>
            <a:r>
              <a:t>✓  A licensed entity holds the float (aggregator in pilot, bank trust account at scale)</a:t>
            </a:r>
          </a:p>
          <a:p>
            <a:pPr>
              <a:spcBef>
                <a:spcPts val="1200"/>
              </a:spcBef>
              <a:defRPr sz="1400">
                <a:solidFill>
                  <a:srgbClr val="0F172A"/>
                </a:solidFill>
              </a:defRPr>
            </a:pPr>
            <a:r>
              <a:t>✓  CustodyProvider abstraction allows swapping custody rails with zero code changes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06 / PHASED CUSTODY</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Compliance designed in, not retrofitted.</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9601200" cy="731520"/>
          </a:xfrm>
          <a:prstGeom prst="rect">
            <a:avLst/>
          </a:prstGeom>
          <a:noFill/>
        </p:spPr>
        <p:txBody>
          <a:bodyPr wrap="none">
            <a:spAutoFit/>
          </a:bodyPr>
          <a:lstStyle/>
          <a:p>
            <a:pPr>
              <a:defRPr b="1" sz="1600">
                <a:solidFill>
                  <a:srgbClr val="0F172A"/>
                </a:solidFill>
              </a:defRPr>
            </a:pPr>
            <a:r>
              <a:t>P0 · BUILD   -   Sandbox / Dev</a:t>
            </a:r>
          </a:p>
          <a:p>
            <a:pPr>
              <a:defRPr sz="1400">
                <a:solidFill>
                  <a:srgbClr val="334155"/>
                </a:solidFill>
              </a:defRPr>
            </a:pPr>
            <a:r>
              <a:t>Float Custody: Nobody (Mock data)   |   Status: Development &amp; 354 automated tests complete</a:t>
            </a:r>
          </a:p>
        </p:txBody>
      </p:sp>
      <p:sp>
        <p:nvSpPr>
          <p:cNvPr id="8" name="Rectangle 7"/>
          <p:cNvSpPr/>
          <p:nvPr/>
        </p:nvSpPr>
        <p:spPr>
          <a:xfrm>
            <a:off x="1097280" y="3246120"/>
            <a:ext cx="9144000" cy="127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383279"/>
            <a:ext cx="9601200" cy="731520"/>
          </a:xfrm>
          <a:prstGeom prst="rect">
            <a:avLst/>
          </a:prstGeom>
          <a:noFill/>
        </p:spPr>
        <p:txBody>
          <a:bodyPr wrap="none">
            <a:spAutoFit/>
          </a:bodyPr>
          <a:lstStyle/>
          <a:p>
            <a:pPr>
              <a:defRPr b="1" sz="1600">
                <a:solidFill>
                  <a:srgbClr val="0F172A"/>
                </a:solidFill>
              </a:defRPr>
            </a:pPr>
            <a:r>
              <a:t>P1 · PILOT   -   Supervised Pilot</a:t>
            </a:r>
          </a:p>
          <a:p>
            <a:pPr>
              <a:defRPr sz="1400">
                <a:solidFill>
                  <a:srgbClr val="334155"/>
                </a:solidFill>
              </a:defRPr>
            </a:pPr>
            <a:r>
              <a:t>Float Custody: Aggregator settlement account   |   Status: Low-volume supervised pilot; interim disclosure to users</a:t>
            </a:r>
          </a:p>
        </p:txBody>
      </p:sp>
      <p:sp>
        <p:nvSpPr>
          <p:cNvPr id="10" name="Rectangle 9"/>
          <p:cNvSpPr/>
          <p:nvPr/>
        </p:nvSpPr>
        <p:spPr>
          <a:xfrm>
            <a:off x="1097280" y="4069079"/>
            <a:ext cx="9144000" cy="127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206240"/>
            <a:ext cx="9601200" cy="731520"/>
          </a:xfrm>
          <a:prstGeom prst="rect">
            <a:avLst/>
          </a:prstGeom>
          <a:noFill/>
        </p:spPr>
        <p:txBody>
          <a:bodyPr wrap="none">
            <a:spAutoFit/>
          </a:bodyPr>
          <a:lstStyle/>
          <a:p>
            <a:pPr>
              <a:defRPr b="1" sz="1600">
                <a:solidFill>
                  <a:srgbClr val="2563EB"/>
                </a:solidFill>
              </a:defRPr>
            </a:pPr>
            <a:r>
              <a:t>P2 · PARTNER   -   Commercial Scale</a:t>
            </a:r>
          </a:p>
          <a:p>
            <a:pPr>
              <a:defRPr sz="1400">
                <a:solidFill>
                  <a:srgbClr val="334155"/>
                </a:solidFill>
              </a:defRPr>
            </a:pPr>
            <a:r>
              <a:t>Float Custody: Licensed Bank Pooled Trust   |   Status: Fully compliant institutional launch; bank-held trust account</a:t>
            </a:r>
          </a:p>
        </p:txBody>
      </p:sp>
      <p:sp>
        <p:nvSpPr>
          <p:cNvPr id="12" name="Rectangle 11"/>
          <p:cNvSpPr/>
          <p:nvPr/>
        </p:nvSpPr>
        <p:spPr>
          <a:xfrm>
            <a:off x="1097280" y="4892040"/>
            <a:ext cx="9144000" cy="127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029200"/>
            <a:ext cx="9601200" cy="731520"/>
          </a:xfrm>
          <a:prstGeom prst="rect">
            <a:avLst/>
          </a:prstGeom>
          <a:noFill/>
        </p:spPr>
        <p:txBody>
          <a:bodyPr wrap="none">
            <a:spAutoFit/>
          </a:bodyPr>
          <a:lstStyle/>
          <a:p>
            <a:pPr>
              <a:defRPr b="1" sz="1600">
                <a:solidFill>
                  <a:srgbClr val="0F172A"/>
                </a:solidFill>
              </a:defRPr>
            </a:pPr>
            <a:r>
              <a:t>P3 · LICENCE   -   Own BoG Licence</a:t>
            </a:r>
          </a:p>
          <a:p>
            <a:pPr>
              <a:defRPr sz="1400">
                <a:solidFill>
                  <a:srgbClr val="334155"/>
                </a:solidFill>
              </a:defRPr>
            </a:pPr>
            <a:r>
              <a:t>Float Custody: Croe (Dedicated DEMI/EPSP)   |   Status: Long-term future; only when processing volume justifies capital</a:t>
            </a:r>
          </a:p>
        </p:txBody>
      </p:sp>
      <p:sp>
        <p:nvSpPr>
          <p:cNvPr id="14" name="TextBox 13"/>
          <p:cNvSpPr txBox="1"/>
          <p:nvPr/>
        </p:nvSpPr>
        <p:spPr>
          <a:xfrm>
            <a:off x="1097280" y="5943600"/>
            <a:ext cx="9601200" cy="457200"/>
          </a:xfrm>
          <a:prstGeom prst="rect">
            <a:avLst/>
          </a:prstGeom>
          <a:noFill/>
        </p:spPr>
        <p:txBody>
          <a:bodyPr wrap="none">
            <a:spAutoFit/>
          </a:bodyPr>
          <a:lstStyle/>
          <a:p>
            <a:pPr>
              <a:defRPr b="1" sz="1300">
                <a:solidFill>
                  <a:srgbClr val="1FC16B"/>
                </a:solidFill>
              </a:defRPr>
            </a:pPr>
            <a:r>
              <a:t>Architectural Advantage: The CustodyProvider interface means moving from P1 to P2 is a configuration change, not a code rewrite.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07 / AUTOMATED ARBITRATION</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Escrow only works if disputes resolve fairly and cheaply.</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2926080" cy="365760"/>
          </a:xfrm>
          <a:prstGeom prst="rect">
            <a:avLst/>
          </a:prstGeom>
          <a:noFill/>
        </p:spPr>
        <p:txBody>
          <a:bodyPr wrap="none">
            <a:spAutoFit/>
          </a:bodyPr>
          <a:lstStyle/>
          <a:p>
            <a:pPr>
              <a:defRPr sz="1100" b="1">
                <a:solidFill>
                  <a:srgbClr val="2563EB"/>
                </a:solidFill>
              </a:defRPr>
            </a:pPr>
            <a:r>
              <a:t>CRYPTOGRAPHIC INTEGRITY</a:t>
            </a:r>
          </a:p>
        </p:txBody>
      </p:sp>
      <p:sp>
        <p:nvSpPr>
          <p:cNvPr id="8" name="TextBox 7"/>
          <p:cNvSpPr txBox="1"/>
          <p:nvPr/>
        </p:nvSpPr>
        <p:spPr>
          <a:xfrm>
            <a:off x="1097280" y="2926080"/>
            <a:ext cx="3017520" cy="2377440"/>
          </a:xfrm>
          <a:prstGeom prst="rect">
            <a:avLst/>
          </a:prstGeom>
          <a:noFill/>
        </p:spPr>
        <p:txBody>
          <a:bodyPr wrap="square">
            <a:spAutoFit/>
          </a:bodyPr>
          <a:lstStyle/>
          <a:p>
            <a:pPr>
              <a:defRPr b="1" sz="2000">
                <a:solidFill>
                  <a:srgbClr val="0F172A"/>
                </a:solidFill>
              </a:defRPr>
            </a:pPr>
            <a:r>
              <a:t>Tier 1 · Forensics</a:t>
            </a:r>
          </a:p>
          <a:p>
            <a:pPr>
              <a:spcBef>
                <a:spcPts val="1600"/>
              </a:spcBef>
              <a:defRPr sz="1500">
                <a:solidFill>
                  <a:srgbClr val="334155"/>
                </a:solidFill>
              </a:defRPr>
            </a:pPr>
            <a:r>
              <a:t>SHA-256 media hashing catches recycled scam photos. Header capture (IP, device fingerprint, network) builds an immutable evidence chain.</a:t>
            </a:r>
          </a:p>
        </p:txBody>
      </p:sp>
      <p:sp>
        <p:nvSpPr>
          <p:cNvPr id="9" name="TextBox 8"/>
          <p:cNvSpPr txBox="1"/>
          <p:nvPr/>
        </p:nvSpPr>
        <p:spPr>
          <a:xfrm>
            <a:off x="4480560" y="2560320"/>
            <a:ext cx="2926080" cy="365760"/>
          </a:xfrm>
          <a:prstGeom prst="rect">
            <a:avLst/>
          </a:prstGeom>
          <a:noFill/>
        </p:spPr>
        <p:txBody>
          <a:bodyPr wrap="none">
            <a:spAutoFit/>
          </a:bodyPr>
          <a:lstStyle/>
          <a:p>
            <a:pPr>
              <a:defRPr sz="1100" b="1">
                <a:solidFill>
                  <a:srgbClr val="DC2626"/>
                </a:solidFill>
              </a:defRPr>
            </a:pPr>
            <a:r>
              <a:t>SUB-SECOND SQL RULES</a:t>
            </a:r>
          </a:p>
        </p:txBody>
      </p:sp>
      <p:sp>
        <p:nvSpPr>
          <p:cNvPr id="10" name="TextBox 9"/>
          <p:cNvSpPr txBox="1"/>
          <p:nvPr/>
        </p:nvSpPr>
        <p:spPr>
          <a:xfrm>
            <a:off x="4480560" y="2926080"/>
            <a:ext cx="3017520" cy="2377440"/>
          </a:xfrm>
          <a:prstGeom prst="rect">
            <a:avLst/>
          </a:prstGeom>
          <a:noFill/>
        </p:spPr>
        <p:txBody>
          <a:bodyPr wrap="square">
            <a:spAutoFit/>
          </a:bodyPr>
          <a:lstStyle/>
          <a:p>
            <a:pPr>
              <a:defRPr b="1" sz="2000">
                <a:solidFill>
                  <a:srgbClr val="0F172A"/>
                </a:solidFill>
              </a:defRPr>
            </a:pPr>
            <a:r>
              <a:t>Tier 2 · Heuristics</a:t>
            </a:r>
          </a:p>
          <a:p>
            <a:pPr>
              <a:spcBef>
                <a:spcPts val="1600"/>
              </a:spcBef>
              <a:defRPr sz="1500">
                <a:solidFill>
                  <a:srgbClr val="334155"/>
                </a:solidFill>
              </a:defRPr>
            </a:pPr>
            <a:r>
              <a:t>Deterministic SQL heuristics evaluate transaction velocity, Sybil ring detection, and structuring patterns in under 500 milliseconds.</a:t>
            </a:r>
          </a:p>
        </p:txBody>
      </p:sp>
      <p:sp>
        <p:nvSpPr>
          <p:cNvPr id="11" name="TextBox 10"/>
          <p:cNvSpPr txBox="1"/>
          <p:nvPr/>
        </p:nvSpPr>
        <p:spPr>
          <a:xfrm>
            <a:off x="7863840" y="2560320"/>
            <a:ext cx="2926080" cy="365760"/>
          </a:xfrm>
          <a:prstGeom prst="rect">
            <a:avLst/>
          </a:prstGeom>
          <a:noFill/>
        </p:spPr>
        <p:txBody>
          <a:bodyPr wrap="none">
            <a:spAutoFit/>
          </a:bodyPr>
          <a:lstStyle/>
          <a:p>
            <a:pPr>
              <a:defRPr sz="1100" b="1">
                <a:solidFill>
                  <a:srgbClr val="1FC16B"/>
                </a:solidFill>
              </a:defRPr>
            </a:pPr>
            <a:r>
              <a:t>SELF-HOSTED LLM</a:t>
            </a:r>
          </a:p>
        </p:txBody>
      </p:sp>
      <p:sp>
        <p:nvSpPr>
          <p:cNvPr id="12" name="TextBox 11"/>
          <p:cNvSpPr txBox="1"/>
          <p:nvPr/>
        </p:nvSpPr>
        <p:spPr>
          <a:xfrm>
            <a:off x="7863840" y="2926080"/>
            <a:ext cx="3017520" cy="2377440"/>
          </a:xfrm>
          <a:prstGeom prst="rect">
            <a:avLst/>
          </a:prstGeom>
          <a:noFill/>
        </p:spPr>
        <p:txBody>
          <a:bodyPr wrap="square">
            <a:spAutoFit/>
          </a:bodyPr>
          <a:lstStyle/>
          <a:p>
            <a:pPr>
              <a:defRPr b="1" sz="2000">
                <a:solidFill>
                  <a:srgbClr val="0F172A"/>
                </a:solidFill>
              </a:defRPr>
            </a:pPr>
            <a:r>
              <a:t>Tier 3 · AI Arbitrator</a:t>
            </a:r>
          </a:p>
          <a:p>
            <a:pPr>
              <a:spcBef>
                <a:spcPts val="1600"/>
              </a:spcBef>
              <a:defRPr sz="1500">
                <a:solidFill>
                  <a:srgbClr val="334155"/>
                </a:solidFill>
              </a:defRPr>
            </a:pPr>
            <a:r>
              <a:t>Autonomous adjudication only at confidence &gt;= 0.900. Truly ambiguous claims automatically escalate to Human L3 Review.</a:t>
            </a:r>
          </a:p>
        </p:txBody>
      </p:sp>
      <p:sp>
        <p:nvSpPr>
          <p:cNvPr id="13" name="TextBox 12"/>
          <p:cNvSpPr txBox="1"/>
          <p:nvPr/>
        </p:nvSpPr>
        <p:spPr>
          <a:xfrm>
            <a:off x="1097280" y="5669280"/>
            <a:ext cx="9601200" cy="548640"/>
          </a:xfrm>
          <a:prstGeom prst="rect">
            <a:avLst/>
          </a:prstGeom>
          <a:noFill/>
        </p:spPr>
        <p:txBody>
          <a:bodyPr wrap="none">
            <a:spAutoFit/>
          </a:bodyPr>
          <a:lstStyle/>
          <a:p>
            <a:pPr>
              <a:defRPr b="1" sz="1300">
                <a:solidFill>
                  <a:srgbClr val="64748B"/>
                </a:solidFill>
              </a:defRPr>
            </a:pPr>
            <a:r>
              <a:t>Strict Data Privacy (Ghana Act 843): Customer dispute evidence NEVER leaves self-hosted infrastructure. No external third-party LLM APIs.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08 / BUSINESS MODEL</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4% all-in: 2.5% vendor + 1.5% buyer. Zero fee on refunds.</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4114800" cy="3931920"/>
          </a:xfrm>
          <a:prstGeom prst="rect">
            <a:avLst/>
          </a:prstGeom>
          <a:noFill/>
        </p:spPr>
        <p:txBody>
          <a:bodyPr wrap="square">
            <a:spAutoFit/>
          </a:bodyPr>
          <a:lstStyle/>
          <a:p>
            <a:pPr>
              <a:defRPr b="1" sz="1200">
                <a:solidFill>
                  <a:srgbClr val="1FC16B"/>
                </a:solidFill>
              </a:defRPr>
            </a:pPr>
            <a:r>
              <a:t>LEAD VERTICAL: PHONES, ELECTRONICS &amp; SNEAKERS</a:t>
            </a:r>
          </a:p>
          <a:p>
            <a:pPr>
              <a:spcBef>
                <a:spcPts val="1000"/>
              </a:spcBef>
              <a:defRPr b="1" sz="2200">
                <a:solidFill>
                  <a:srgbClr val="0F172A"/>
                </a:solidFill>
              </a:defRPr>
            </a:pPr>
            <a:r>
              <a:t>GHS 1,200 Average Order Value</a:t>
            </a:r>
          </a:p>
          <a:p>
            <a:pPr>
              <a:spcBef>
                <a:spcPts val="1200"/>
              </a:spcBef>
              <a:defRPr sz="1500">
                <a:solidFill>
                  <a:srgbClr val="334155"/>
                </a:solidFill>
              </a:defRPr>
            </a:pPr>
            <a:r>
              <a:t>Croe Fee (4%):  GHS 48.00</a:t>
            </a:r>
          </a:p>
          <a:p>
            <a:pPr>
              <a:spcBef>
                <a:spcPts val="1200"/>
              </a:spcBef>
              <a:defRPr sz="1500">
                <a:solidFill>
                  <a:srgbClr val="334155"/>
                </a:solidFill>
              </a:defRPr>
            </a:pPr>
            <a:r>
              <a:t>MoMo Collection (1.95%):  - GHS 23.75</a:t>
            </a:r>
          </a:p>
          <a:p>
            <a:pPr>
              <a:spcBef>
                <a:spcPts val="1200"/>
              </a:spcBef>
              <a:defRPr sz="1500">
                <a:solidFill>
                  <a:srgbClr val="334155"/>
                </a:solidFill>
              </a:defRPr>
            </a:pPr>
            <a:r>
              <a:t>Payout, ID Check, SMS, Hosting:  - GHS 2.55</a:t>
            </a:r>
          </a:p>
          <a:p>
            <a:pPr>
              <a:spcBef>
                <a:spcPts val="1200"/>
              </a:spcBef>
              <a:defRPr sz="1500">
                <a:solidFill>
                  <a:srgbClr val="334155"/>
                </a:solidFill>
              </a:defRPr>
            </a:pPr>
            <a:r>
              <a:t>Fraud Reserve &amp; Refunds:  - GHS 4.90</a:t>
            </a:r>
          </a:p>
          <a:p>
            <a:pPr>
              <a:spcBef>
                <a:spcPts val="1200"/>
              </a:spcBef>
              <a:defRPr sz="1500" b="1">
                <a:solidFill>
                  <a:srgbClr val="0F172A"/>
                </a:solidFill>
              </a:defRPr>
            </a:pPr>
            <a:r>
              <a:t>Croe Net Margin / Order:  GHS 16.80</a:t>
            </a:r>
          </a:p>
          <a:p>
            <a:pPr>
              <a:spcBef>
                <a:spcPts val="1200"/>
              </a:spcBef>
              <a:defRPr sz="1500" b="1">
                <a:solidFill>
                  <a:srgbClr val="0F172A"/>
                </a:solidFill>
              </a:defRPr>
            </a:pPr>
            <a:r>
              <a:t>Company Break-Even:  ~37,900 orders / mo</a:t>
            </a:r>
          </a:p>
        </p:txBody>
      </p:sp>
      <p:sp>
        <p:nvSpPr>
          <p:cNvPr id="8" name="Rectangle 7"/>
          <p:cNvSpPr/>
          <p:nvPr/>
        </p:nvSpPr>
        <p:spPr>
          <a:xfrm>
            <a:off x="5760720" y="2560320"/>
            <a:ext cx="12700" cy="32004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560320"/>
            <a:ext cx="4114800" cy="3931920"/>
          </a:xfrm>
          <a:prstGeom prst="rect">
            <a:avLst/>
          </a:prstGeom>
          <a:noFill/>
        </p:spPr>
        <p:txBody>
          <a:bodyPr wrap="square">
            <a:spAutoFit/>
          </a:bodyPr>
          <a:lstStyle/>
          <a:p>
            <a:pPr>
              <a:defRPr b="1" sz="1200">
                <a:solidFill>
                  <a:srgbClr val="2563EB"/>
                </a:solidFill>
              </a:defRPr>
            </a:pPr>
            <a:r>
              <a:t>BASE CASE: BLENDED ORDER</a:t>
            </a:r>
          </a:p>
          <a:p>
            <a:pPr>
              <a:spcBef>
                <a:spcPts val="1000"/>
              </a:spcBef>
              <a:defRPr b="1" sz="2200">
                <a:solidFill>
                  <a:srgbClr val="0F172A"/>
                </a:solidFill>
              </a:defRPr>
            </a:pPr>
            <a:r>
              <a:t>GHS 800 Average Order Value</a:t>
            </a:r>
          </a:p>
          <a:p>
            <a:pPr>
              <a:spcBef>
                <a:spcPts val="1200"/>
              </a:spcBef>
              <a:defRPr sz="1500">
                <a:solidFill>
                  <a:srgbClr val="334155"/>
                </a:solidFill>
              </a:defRPr>
            </a:pPr>
            <a:r>
              <a:t>Croe Fee (4%):  GHS 32.00</a:t>
            </a:r>
          </a:p>
          <a:p>
            <a:pPr>
              <a:spcBef>
                <a:spcPts val="1200"/>
              </a:spcBef>
              <a:defRPr sz="1500">
                <a:solidFill>
                  <a:srgbClr val="334155"/>
                </a:solidFill>
              </a:defRPr>
            </a:pPr>
            <a:r>
              <a:t>MoMo Collection (1.95%):  - GHS 15.83</a:t>
            </a:r>
          </a:p>
          <a:p>
            <a:pPr>
              <a:spcBef>
                <a:spcPts val="1200"/>
              </a:spcBef>
              <a:defRPr sz="1500">
                <a:solidFill>
                  <a:srgbClr val="334155"/>
                </a:solidFill>
              </a:defRPr>
            </a:pPr>
            <a:r>
              <a:t>Payout, ID Check, SMS, Hosting:  - GHS 2.55</a:t>
            </a:r>
          </a:p>
          <a:p>
            <a:pPr>
              <a:spcBef>
                <a:spcPts val="1200"/>
              </a:spcBef>
              <a:defRPr sz="1500">
                <a:solidFill>
                  <a:srgbClr val="334155"/>
                </a:solidFill>
              </a:defRPr>
            </a:pPr>
            <a:r>
              <a:t>Fraud Reserve &amp; Refunds:  - GHS 3.29</a:t>
            </a:r>
          </a:p>
          <a:p>
            <a:pPr>
              <a:spcBef>
                <a:spcPts val="1200"/>
              </a:spcBef>
              <a:defRPr sz="1500" b="1">
                <a:solidFill>
                  <a:srgbClr val="0F172A"/>
                </a:solidFill>
              </a:defRPr>
            </a:pPr>
            <a:r>
              <a:t>Croe Net Margin / Order:  GHS 10.33</a:t>
            </a:r>
          </a:p>
          <a:p>
            <a:pPr>
              <a:spcBef>
                <a:spcPts val="1200"/>
              </a:spcBef>
              <a:defRPr sz="1500" b="1">
                <a:solidFill>
                  <a:srgbClr val="0F172A"/>
                </a:solidFill>
              </a:defRPr>
            </a:pPr>
            <a:r>
              <a:t>Company Break-Even:  ~61,700 orders / mo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09 / GO TO MARKET</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Vendors bring their own buyers (B2B2C).</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2926080" cy="2743200"/>
          </a:xfrm>
          <a:prstGeom prst="rect">
            <a:avLst/>
          </a:prstGeom>
          <a:noFill/>
        </p:spPr>
        <p:txBody>
          <a:bodyPr wrap="square">
            <a:spAutoFit/>
          </a:bodyPr>
          <a:lstStyle/>
          <a:p>
            <a:pPr>
              <a:defRPr b="1" sz="2000">
                <a:solidFill>
                  <a:srgbClr val="0F172A"/>
                </a:solidFill>
              </a:defRPr>
            </a:pPr>
            <a:r>
              <a:t>Phones &amp; Electronics</a:t>
            </a:r>
          </a:p>
          <a:p>
            <a:pPr>
              <a:spcBef>
                <a:spcPts val="800"/>
              </a:spcBef>
              <a:defRPr b="1" sz="1300">
                <a:solidFill>
                  <a:srgbClr val="2563EB"/>
                </a:solidFill>
              </a:defRPr>
            </a:pPr>
            <a:r>
              <a:t>GHS 1k – 3.5k</a:t>
            </a:r>
          </a:p>
          <a:p>
            <a:pPr>
              <a:spcBef>
                <a:spcPts val="1600"/>
              </a:spcBef>
              <a:defRPr sz="1500">
                <a:solidFill>
                  <a:srgbClr val="334155"/>
                </a:solidFill>
              </a:defRPr>
            </a:pPr>
            <a:r>
              <a:t>Highest fraud anxiety. Buyers routinely ghost at 'send MoMo first'. Vendors desperate for guaranteed closing.</a:t>
            </a:r>
          </a:p>
        </p:txBody>
      </p:sp>
      <p:sp>
        <p:nvSpPr>
          <p:cNvPr id="8" name="TextBox 7"/>
          <p:cNvSpPr txBox="1"/>
          <p:nvPr/>
        </p:nvSpPr>
        <p:spPr>
          <a:xfrm>
            <a:off x="4480560" y="2560320"/>
            <a:ext cx="2926080" cy="2743200"/>
          </a:xfrm>
          <a:prstGeom prst="rect">
            <a:avLst/>
          </a:prstGeom>
          <a:noFill/>
        </p:spPr>
        <p:txBody>
          <a:bodyPr wrap="square">
            <a:spAutoFit/>
          </a:bodyPr>
          <a:lstStyle/>
          <a:p>
            <a:pPr>
              <a:defRPr b="1" sz="2000">
                <a:solidFill>
                  <a:srgbClr val="0F172A"/>
                </a:solidFill>
              </a:defRPr>
            </a:pPr>
            <a:r>
              <a:t>Sneakers &amp; Streetwear</a:t>
            </a:r>
          </a:p>
          <a:p>
            <a:pPr>
              <a:spcBef>
                <a:spcPts val="800"/>
              </a:spcBef>
              <a:defRPr b="1" sz="1300">
                <a:solidFill>
                  <a:srgbClr val="1FC16B"/>
                </a:solidFill>
              </a:defRPr>
            </a:pPr>
            <a:r>
              <a:t>GHS 600 – 1.8k</a:t>
            </a:r>
          </a:p>
          <a:p>
            <a:pPr>
              <a:spcBef>
                <a:spcPts val="1600"/>
              </a:spcBef>
              <a:defRPr sz="1500">
                <a:solidFill>
                  <a:srgbClr val="334155"/>
                </a:solidFill>
              </a:defRPr>
            </a:pPr>
            <a:r>
              <a:t>Instagram-native sneaker resellers. High dispute rates over authenticity. Perfect for escrow inspection window.</a:t>
            </a:r>
          </a:p>
        </p:txBody>
      </p:sp>
      <p:sp>
        <p:nvSpPr>
          <p:cNvPr id="9" name="TextBox 8"/>
          <p:cNvSpPr txBox="1"/>
          <p:nvPr/>
        </p:nvSpPr>
        <p:spPr>
          <a:xfrm>
            <a:off x="7863840" y="2560320"/>
            <a:ext cx="2926080" cy="2743200"/>
          </a:xfrm>
          <a:prstGeom prst="rect">
            <a:avLst/>
          </a:prstGeom>
          <a:noFill/>
        </p:spPr>
        <p:txBody>
          <a:bodyPr wrap="square">
            <a:spAutoFit/>
          </a:bodyPr>
          <a:lstStyle/>
          <a:p>
            <a:pPr>
              <a:defRPr b="1" sz="2000">
                <a:solidFill>
                  <a:srgbClr val="0F172A"/>
                </a:solidFill>
              </a:defRPr>
            </a:pPr>
            <a:r>
              <a:t>Curated Thrift</a:t>
            </a:r>
          </a:p>
          <a:p>
            <a:pPr>
              <a:spcBef>
                <a:spcPts val="800"/>
              </a:spcBef>
              <a:defRPr b="1" sz="1300">
                <a:solidFill>
                  <a:srgbClr val="64748B"/>
                </a:solidFill>
              </a:defRPr>
            </a:pPr>
            <a:r>
              <a:t>GHS 400 – 900</a:t>
            </a:r>
          </a:p>
          <a:p>
            <a:pPr>
              <a:spcBef>
                <a:spcPts val="1600"/>
              </a:spcBef>
              <a:defRPr sz="1500">
                <a:solidFill>
                  <a:srgbClr val="334155"/>
                </a:solidFill>
              </a:defRPr>
            </a:pPr>
            <a:r>
              <a:t>High velocity, intercity dispatch. Vendors lose repeat orders when distant buyers refuse to pay before courier delivery.</a:t>
            </a:r>
          </a:p>
        </p:txBody>
      </p:sp>
      <p:sp>
        <p:nvSpPr>
          <p:cNvPr id="10" name="TextBox 9"/>
          <p:cNvSpPr txBox="1"/>
          <p:nvPr/>
        </p:nvSpPr>
        <p:spPr>
          <a:xfrm>
            <a:off x="1097280" y="5303520"/>
            <a:ext cx="9601200" cy="731520"/>
          </a:xfrm>
          <a:prstGeom prst="rect">
            <a:avLst/>
          </a:prstGeom>
          <a:noFill/>
        </p:spPr>
        <p:txBody>
          <a:bodyPr wrap="square">
            <a:spAutoFit/>
          </a:bodyPr>
          <a:lstStyle/>
          <a:p>
            <a:pPr>
              <a:defRPr b="1" sz="1200">
                <a:solidFill>
                  <a:srgbClr val="1FC16B"/>
                </a:solidFill>
              </a:defRPr>
            </a:pPr>
            <a:r>
              <a:t>THE PITCH TO A VENDOR IS CONVERSION, NOT SECURITY:</a:t>
            </a:r>
          </a:p>
          <a:p>
            <a:pPr>
              <a:defRPr b="1" sz="2200">
                <a:solidFill>
                  <a:srgbClr val="0F172A"/>
                </a:solidFill>
                <a:latin typeface="Segoe UI"/>
              </a:defRPr>
            </a:pPr>
            <a:r>
              <a:t>"You will close the 25% of qualified buyers who currently ghost your MoMo details."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10 / PILOT METRICS</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Pre-launch. What we are validating, and when.</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4114800" cy="3840480"/>
          </a:xfrm>
          <a:prstGeom prst="rect">
            <a:avLst/>
          </a:prstGeom>
          <a:noFill/>
        </p:spPr>
        <p:txBody>
          <a:bodyPr wrap="square">
            <a:spAutoFit/>
          </a:bodyPr>
          <a:lstStyle/>
          <a:p>
            <a:pPr>
              <a:defRPr b="1" sz="2000">
                <a:solidFill>
                  <a:srgbClr val="2563EB"/>
                </a:solidFill>
              </a:defRPr>
            </a:pPr>
            <a:r>
              <a:t>Current Position</a:t>
            </a:r>
          </a:p>
          <a:p>
            <a:pPr>
              <a:spcBef>
                <a:spcPts val="1400"/>
              </a:spcBef>
              <a:defRPr sz="1400">
                <a:solidFill>
                  <a:srgbClr val="334155"/>
                </a:solidFill>
              </a:defRPr>
            </a:pPr>
            <a:r>
              <a:t>•  Product complete and tested (354 tests passing)</a:t>
            </a:r>
          </a:p>
          <a:p>
            <a:pPr>
              <a:spcBef>
                <a:spcPts val="1400"/>
              </a:spcBef>
              <a:defRPr sz="1400">
                <a:solidFill>
                  <a:srgbClr val="334155"/>
                </a:solidFill>
              </a:defRPr>
            </a:pPr>
            <a:r>
              <a:t>•  Running end-to-end on aggregator sandbox</a:t>
            </a:r>
          </a:p>
          <a:p>
            <a:pPr>
              <a:spcBef>
                <a:spcPts val="1400"/>
              </a:spcBef>
              <a:defRPr sz="1400">
                <a:solidFill>
                  <a:srgbClr val="334155"/>
                </a:solidFill>
              </a:defRPr>
            </a:pPr>
            <a:r>
              <a:t>•  10–20 pilot vendors in recruitment cohort in Accra</a:t>
            </a:r>
          </a:p>
          <a:p>
            <a:pPr>
              <a:spcBef>
                <a:spcPts val="1400"/>
              </a:spcBef>
              <a:defRPr sz="1400">
                <a:solidFill>
                  <a:srgbClr val="334155"/>
                </a:solidFill>
              </a:defRPr>
            </a:pPr>
            <a:r>
              <a:t>•  Entity formation &amp; banking partner discussions active</a:t>
            </a:r>
          </a:p>
          <a:p>
            <a:pPr>
              <a:spcBef>
                <a:spcPts val="1400"/>
              </a:spcBef>
              <a:defRPr sz="1400">
                <a:solidFill>
                  <a:srgbClr val="334155"/>
                </a:solidFill>
              </a:defRPr>
            </a:pPr>
            <a:r>
              <a:t>•  Pre-revenue by design: verifying compliance before live money</a:t>
            </a:r>
          </a:p>
        </p:txBody>
      </p:sp>
      <p:sp>
        <p:nvSpPr>
          <p:cNvPr id="8" name="Rectangle 7"/>
          <p:cNvSpPr/>
          <p:nvPr/>
        </p:nvSpPr>
        <p:spPr>
          <a:xfrm>
            <a:off x="5760720" y="2560320"/>
            <a:ext cx="12700" cy="32004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560320"/>
            <a:ext cx="4572000" cy="3840480"/>
          </a:xfrm>
          <a:prstGeom prst="rect">
            <a:avLst/>
          </a:prstGeom>
          <a:noFill/>
        </p:spPr>
        <p:txBody>
          <a:bodyPr wrap="square">
            <a:spAutoFit/>
          </a:bodyPr>
          <a:lstStyle/>
          <a:p>
            <a:pPr>
              <a:defRPr b="1" sz="2000">
                <a:solidFill>
                  <a:srgbClr val="0F172A"/>
                </a:solidFill>
              </a:defRPr>
            </a:pPr>
            <a:r>
              <a:t>Stage 1 Pilot Gates</a:t>
            </a:r>
          </a:p>
          <a:p>
            <a:pPr>
              <a:spcBef>
                <a:spcPts val="1200"/>
              </a:spcBef>
              <a:defRPr b="1" sz="1400">
                <a:solidFill>
                  <a:srgbClr val="0F172A"/>
                </a:solidFill>
              </a:defRPr>
            </a:pPr>
            <a:r>
              <a:t>Volume: ≥ 250 orders by month 6</a:t>
            </a:r>
          </a:p>
          <a:p>
            <a:pPr>
              <a:defRPr sz="1400">
                <a:solidFill>
                  <a:srgbClr val="334155"/>
                </a:solidFill>
              </a:defRPr>
            </a:pPr>
            <a:r>
              <a:t>  Real demand on capped live rails</a:t>
            </a:r>
          </a:p>
          <a:p>
            <a:pPr>
              <a:spcBef>
                <a:spcPts val="1200"/>
              </a:spcBef>
              <a:defRPr b="1" sz="1400">
                <a:solidFill>
                  <a:srgbClr val="0F172A"/>
                </a:solidFill>
              </a:defRPr>
            </a:pPr>
            <a:r>
              <a:t>Dispute Rate: &lt; 8% of transactions</a:t>
            </a:r>
          </a:p>
          <a:p>
            <a:pPr>
              <a:defRPr sz="1400">
                <a:solidFill>
                  <a:srgbClr val="334155"/>
                </a:solidFill>
              </a:defRPr>
            </a:pPr>
            <a:r>
              <a:t>  Validates fraud resistance</a:t>
            </a:r>
          </a:p>
          <a:p>
            <a:pPr>
              <a:spcBef>
                <a:spcPts val="1200"/>
              </a:spcBef>
              <a:defRPr b="1" sz="1400">
                <a:solidFill>
                  <a:srgbClr val="0F172A"/>
                </a:solidFill>
              </a:defRPr>
            </a:pPr>
            <a:r>
              <a:t>AI Accuracy: &gt; 95% upheld</a:t>
            </a:r>
          </a:p>
          <a:p>
            <a:pPr>
              <a:defRPr sz="1400">
                <a:solidFill>
                  <a:srgbClr val="334155"/>
                </a:solidFill>
              </a:defRPr>
            </a:pPr>
            <a:r>
              <a:t>  Proves 3-tier dispute engine</a:t>
            </a:r>
          </a:p>
          <a:p>
            <a:pPr>
              <a:spcBef>
                <a:spcPts val="1200"/>
              </a:spcBef>
              <a:defRPr b="1" sz="1400">
                <a:solidFill>
                  <a:srgbClr val="0F172A"/>
                </a:solidFill>
              </a:defRPr>
            </a:pPr>
            <a:r>
              <a:t>Buyer Drop-off: &lt; 30% with 1.5% fee shown</a:t>
            </a:r>
          </a:p>
          <a:p>
            <a:pPr>
              <a:defRPr sz="1400">
                <a:solidFill>
                  <a:srgbClr val="334155"/>
                </a:solidFill>
              </a:defRPr>
            </a:pPr>
            <a:r>
              <a:t>  Validates 4% pricing and web/USSD UX</a:t>
            </a:r>
          </a:p>
          <a:p>
            <a:pPr>
              <a:spcBef>
                <a:spcPts val="1200"/>
              </a:spcBef>
              <a:defRPr b="1" sz="1400">
                <a:solidFill>
                  <a:srgbClr val="0F172A"/>
                </a:solidFill>
              </a:defRPr>
            </a:pPr>
            <a:r>
              <a:t>Retention: &gt; 60% active</a:t>
            </a:r>
          </a:p>
          <a:p>
            <a:pPr>
              <a:defRPr sz="1400">
                <a:solidFill>
                  <a:srgbClr val="334155"/>
                </a:solidFill>
              </a:defRPr>
            </a:pPr>
            <a:r>
              <a:t>  Proves commercial utility</a:t>
            </a:r>
          </a:p>
          <a:p>
            <a:pPr>
              <a:spcBef>
                <a:spcPts val="1200"/>
              </a:spcBef>
              <a:defRPr b="1" sz="1400">
                <a:solidFill>
                  <a:srgbClr val="0F172A"/>
                </a:solidFill>
              </a:defRPr>
            </a:pPr>
            <a:r>
              <a:t>Reconciliation: 0 mismatches</a:t>
            </a:r>
          </a:p>
          <a:p>
            <a:pPr>
              <a:defRPr sz="1400">
                <a:solidFill>
                  <a:srgbClr val="334155"/>
                </a:solidFill>
              </a:defRPr>
            </a:pPr>
            <a:r>
              <a:t>  Mandatory requirement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11 / CAPITAL ASK</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US$387k pre-seed to a licensed, partner-held launch.</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4572000" cy="3474720"/>
          </a:xfrm>
          <a:prstGeom prst="rect">
            <a:avLst/>
          </a:prstGeom>
          <a:noFill/>
        </p:spPr>
        <p:txBody>
          <a:bodyPr wrap="square">
            <a:spAutoFit/>
          </a:bodyPr>
          <a:lstStyle/>
          <a:p>
            <a:pPr>
              <a:defRPr b="1" sz="1200">
                <a:solidFill>
                  <a:srgbClr val="2563EB"/>
                </a:solidFill>
              </a:defRPr>
            </a:pPr>
            <a:r>
              <a:t>STAGE 1: LEGAL PILOT (MONTHS 1–6)</a:t>
            </a:r>
          </a:p>
          <a:p>
            <a:pPr>
              <a:spcBef>
                <a:spcPts val="800"/>
              </a:spcBef>
              <a:defRPr b="1" sz="2600">
                <a:solidFill>
                  <a:srgbClr val="0F172A"/>
                </a:solidFill>
              </a:defRPr>
            </a:pPr>
            <a:r>
              <a:t>US$26k  (GHS 305k)</a:t>
            </a:r>
          </a:p>
          <a:p>
            <a:pPr>
              <a:spcBef>
                <a:spcPts val="1200"/>
              </a:spcBef>
              <a:defRPr sz="1400">
                <a:solidFill>
                  <a:srgbClr val="334155"/>
                </a:solidFill>
              </a:defRPr>
            </a:pPr>
            <a:r>
              <a:t>✓  Company, TIN, DPC registration, lawyer's custody opinion</a:t>
            </a:r>
          </a:p>
          <a:p>
            <a:pPr>
              <a:spcBef>
                <a:spcPts val="1200"/>
              </a:spcBef>
              <a:defRPr sz="1400">
                <a:solidFill>
                  <a:srgbClr val="334155"/>
                </a:solidFill>
              </a:defRPr>
            </a:pPr>
            <a:r>
              <a:t>✓  Written aggregator approval; BoG sandbox or partner LOI</a:t>
            </a:r>
          </a:p>
          <a:p>
            <a:pPr>
              <a:spcBef>
                <a:spcPts val="1200"/>
              </a:spcBef>
              <a:defRPr sz="1400">
                <a:solidFill>
                  <a:srgbClr val="334155"/>
                </a:solidFill>
              </a:defRPr>
            </a:pPr>
            <a:r>
              <a:t>✓  Founder stipends, part-time ops, lean hosting (AI on CPU)</a:t>
            </a:r>
          </a:p>
          <a:p>
            <a:pPr>
              <a:spcBef>
                <a:spcPts val="1200"/>
              </a:spcBef>
              <a:defRPr sz="1400">
                <a:solidFill>
                  <a:srgbClr val="334155"/>
                </a:solidFill>
              </a:defRPr>
            </a:pPr>
            <a:r>
              <a:t>✓  10–50 vendors; ~500 capped, disclosed live orders</a:t>
            </a:r>
          </a:p>
          <a:p>
            <a:pPr>
              <a:spcBef>
                <a:spcPts val="1200"/>
              </a:spcBef>
              <a:defRPr sz="1400">
                <a:solidFill>
                  <a:srgbClr val="334155"/>
                </a:solidFill>
              </a:defRPr>
            </a:pPr>
            <a:r>
              <a:t>✓  Gate: buyer fee acceptance, order value, dispute rate</a:t>
            </a:r>
          </a:p>
        </p:txBody>
      </p:sp>
      <p:sp>
        <p:nvSpPr>
          <p:cNvPr id="8" name="Rectangle 7"/>
          <p:cNvSpPr/>
          <p:nvPr/>
        </p:nvSpPr>
        <p:spPr>
          <a:xfrm>
            <a:off x="5943600" y="2560320"/>
            <a:ext cx="12700" cy="32004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560320"/>
            <a:ext cx="4572000" cy="3474720"/>
          </a:xfrm>
          <a:prstGeom prst="rect">
            <a:avLst/>
          </a:prstGeom>
          <a:noFill/>
        </p:spPr>
        <p:txBody>
          <a:bodyPr wrap="square">
            <a:spAutoFit/>
          </a:bodyPr>
          <a:lstStyle/>
          <a:p>
            <a:pPr>
              <a:defRPr b="1" sz="1200">
                <a:solidFill>
                  <a:srgbClr val="1FC16B"/>
                </a:solidFill>
              </a:defRPr>
            </a:pPr>
            <a:r>
              <a:t>STAGE 2: COMPLIANT LAUNCH (MONTHS 7–18)</a:t>
            </a:r>
          </a:p>
          <a:p>
            <a:pPr>
              <a:spcBef>
                <a:spcPts val="800"/>
              </a:spcBef>
              <a:defRPr b="1" sz="2600">
                <a:solidFill>
                  <a:srgbClr val="0F172A"/>
                </a:solidFill>
              </a:defRPr>
            </a:pPr>
            <a:r>
              <a:t>US$360k  (GHS 4.18M)</a:t>
            </a:r>
          </a:p>
          <a:p>
            <a:pPr>
              <a:spcBef>
                <a:spcPts val="1200"/>
              </a:spcBef>
              <a:defRPr sz="1400">
                <a:solidFill>
                  <a:srgbClr val="334155"/>
                </a:solidFill>
              </a:defRPr>
            </a:pPr>
            <a:r>
              <a:t>✓  BoG PFTSP licence + partner-bank trust account (P2)</a:t>
            </a:r>
          </a:p>
          <a:p>
            <a:pPr>
              <a:spcBef>
                <a:spcPts val="1200"/>
              </a:spcBef>
              <a:defRPr sz="1400">
                <a:solidFill>
                  <a:srgbClr val="334155"/>
                </a:solidFill>
              </a:defRPr>
            </a:pPr>
            <a:r>
              <a:t>✓  The five BoG management roles; ~12 staff</a:t>
            </a:r>
          </a:p>
          <a:p>
            <a:pPr>
              <a:spcBef>
                <a:spcPts val="1200"/>
              </a:spcBef>
              <a:defRPr sz="1400">
                <a:solidFill>
                  <a:srgbClr val="334155"/>
                </a:solidFill>
              </a:defRPr>
            </a:pPr>
            <a:r>
              <a:t>✓  External pentest, ISO 27001, full BoG policy set</a:t>
            </a:r>
          </a:p>
          <a:p>
            <a:pPr>
              <a:spcBef>
                <a:spcPts val="1200"/>
              </a:spcBef>
              <a:defRPr sz="1400">
                <a:solidFill>
                  <a:srgbClr val="334155"/>
                </a:solidFill>
              </a:defRPr>
            </a:pPr>
            <a:r>
              <a:t>✓  Float (one day of order value) + partner reserve</a:t>
            </a:r>
          </a:p>
          <a:p>
            <a:pPr>
              <a:spcBef>
                <a:spcPts val="1200"/>
              </a:spcBef>
              <a:defRPr sz="1400">
                <a:solidFill>
                  <a:srgbClr val="334155"/>
                </a:solidFill>
              </a:defRPr>
            </a:pPr>
            <a:r>
              <a:t>✓  Milestone: ~5,000 orders/month on compliant rails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roe_wordmark_light.png"/>
          <p:cNvPicPr>
            <a:picLocks noChangeAspect="1"/>
          </p:cNvPicPr>
          <p:nvPr/>
        </p:nvPicPr>
        <p:blipFill>
          <a:blip r:embed="rId2"/>
          <a:stretch>
            <a:fillRect/>
          </a:stretch>
        </p:blipFill>
        <p:spPr>
          <a:xfrm>
            <a:off x="1097280" y="2011680"/>
            <a:ext cx="3200400" cy="971688"/>
          </a:xfrm>
          <a:prstGeom prst="rect">
            <a:avLst/>
          </a:prstGeom>
        </p:spPr>
      </p:pic>
      <p:sp>
        <p:nvSpPr>
          <p:cNvPr id="4" name="TextBox 3"/>
          <p:cNvSpPr txBox="1"/>
          <p:nvPr/>
        </p:nvSpPr>
        <p:spPr>
          <a:xfrm>
            <a:off x="1051560" y="3108960"/>
            <a:ext cx="9601200" cy="2286000"/>
          </a:xfrm>
          <a:prstGeom prst="rect">
            <a:avLst/>
          </a:prstGeom>
          <a:noFill/>
        </p:spPr>
        <p:txBody>
          <a:bodyPr wrap="none">
            <a:spAutoFit/>
          </a:bodyPr>
          <a:lstStyle/>
          <a:p>
            <a:pPr>
              <a:defRPr sz="5600" b="1">
                <a:solidFill>
                  <a:srgbClr val="FFFFFF"/>
                </a:solidFill>
                <a:latin typeface="Segoe UI"/>
              </a:defRPr>
            </a:pPr>
            <a:r>
              <a:t>Appendix</a:t>
            </a:r>
          </a:p>
          <a:p>
            <a:pPr>
              <a:spcBef>
                <a:spcPts val="2000"/>
              </a:spcBef>
              <a:defRPr sz="2200">
                <a:solidFill>
                  <a:srgbClr val="94A3B8"/>
                </a:solidFill>
              </a:defRPr>
            </a:pPr>
            <a:r>
              <a:t>Technical Depth, Risk Registry, Expansion, and Diligence FAQ</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APPENDIX A1</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Why a student built this: Discipline &amp; Engineering Rules.</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9601200" cy="3840480"/>
          </a:xfrm>
          <a:prstGeom prst="rect">
            <a:avLst/>
          </a:prstGeom>
          <a:noFill/>
        </p:spPr>
        <p:txBody>
          <a:bodyPr wrap="square">
            <a:spAutoFit/>
          </a:bodyPr>
          <a:lstStyle/>
          <a:p>
            <a:pPr>
              <a:defRPr b="1" sz="2000">
                <a:solidFill>
                  <a:srgbClr val="2563EB"/>
                </a:solidFill>
              </a:defRPr>
            </a:pPr>
            <a:r>
              <a:t>The Specification Package is the Due-Diligence Pack</a:t>
            </a:r>
          </a:p>
          <a:p>
            <a:pPr>
              <a:spcBef>
                <a:spcPts val="1400"/>
              </a:spcBef>
              <a:defRPr sz="1500">
                <a:solidFill>
                  <a:srgbClr val="334155"/>
                </a:solidFill>
              </a:defRPr>
            </a:pPr>
            <a:r>
              <a:t>•  28 comprehensive specification documents written before a single line of application code was authored.</a:t>
            </a:r>
          </a:p>
          <a:p>
            <a:pPr>
              <a:spcBef>
                <a:spcPts val="1400"/>
              </a:spcBef>
              <a:defRPr sz="1500">
                <a:solidFill>
                  <a:srgbClr val="334155"/>
                </a:solidFill>
              </a:defRPr>
            </a:pPr>
            <a:r>
              <a:t>•  Strict Phase-Gate Rule (PROC-01): No phase begins until the previous phase is production-grade, complete, and tested.</a:t>
            </a:r>
          </a:p>
          <a:p>
            <a:pPr>
              <a:spcBef>
                <a:spcPts val="1400"/>
              </a:spcBef>
              <a:defRPr sz="1500">
                <a:solidFill>
                  <a:srgbClr val="334155"/>
                </a:solidFill>
              </a:defRPr>
            </a:pPr>
            <a:r>
              <a:t>•  Mandatory engineering constraints: NUMERIC(15,2) decimal precision, append-only sub-ledger, SELECT FOR UPDATE locking.</a:t>
            </a:r>
          </a:p>
          <a:p>
            <a:pPr>
              <a:spcBef>
                <a:spcPts val="1400"/>
              </a:spcBef>
              <a:defRPr sz="1500">
                <a:solidFill>
                  <a:srgbClr val="334155"/>
                </a:solidFill>
              </a:defRPr>
            </a:pPr>
            <a:r>
              <a:t>•  Zero vanity architecture: Self-hosted open-weights LLM running locally; P0 build cost literally ≈ GHS 0.00.</a:t>
            </a:r>
          </a:p>
          <a:p>
            <a:pPr>
              <a:spcBef>
                <a:spcPts val="1400"/>
              </a:spcBef>
              <a:defRPr sz="1500">
                <a:solidFill>
                  <a:srgbClr val="334155"/>
                </a:solidFill>
              </a:defRPr>
            </a:pPr>
            <a:r>
              <a:t>•  Full due-diligence package available immediately: Architecture, Threat Model, DDL schema, and 354 passing tests.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APPENDIX A2</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Financial Concurrency &amp; Infrastructure Depth.</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2926080" cy="3840480"/>
          </a:xfrm>
          <a:prstGeom prst="rect">
            <a:avLst/>
          </a:prstGeom>
          <a:noFill/>
        </p:spPr>
        <p:txBody>
          <a:bodyPr wrap="square">
            <a:spAutoFit/>
          </a:bodyPr>
          <a:lstStyle/>
          <a:p>
            <a:pPr>
              <a:defRPr b="1" sz="2000">
                <a:solidFill>
                  <a:srgbClr val="2563EB"/>
                </a:solidFill>
              </a:defRPr>
            </a:pPr>
            <a:r>
              <a:t>Double-Spend Defense</a:t>
            </a:r>
          </a:p>
          <a:p>
            <a:pPr>
              <a:spcBef>
                <a:spcPts val="800"/>
              </a:spcBef>
              <a:defRPr b="1" sz="1200">
                <a:solidFill>
                  <a:srgbClr val="1FC16B"/>
                </a:solidFill>
              </a:defRPr>
            </a:pPr>
            <a:r>
              <a:t>3-LAYER GATE</a:t>
            </a:r>
          </a:p>
          <a:p>
            <a:pPr>
              <a:spcBef>
                <a:spcPts val="1600"/>
              </a:spcBef>
              <a:defRPr sz="1400">
                <a:solidFill>
                  <a:srgbClr val="334155"/>
                </a:solidFill>
              </a:defRPr>
            </a:pPr>
            <a:r>
              <a:t>Layer 1: Redis SETNX fast dedup (24h TTL).</a:t>
            </a:r>
            <a:br/>
            <a:r>
              <a:t>Layer 2: SELECT FOR UPDATE pessimistic row locks.</a:t>
            </a:r>
            <a:br/>
            <a:r>
              <a:t>Layer 3: Partial unique DB indexes (Error 23505 trap).</a:t>
            </a:r>
          </a:p>
        </p:txBody>
      </p:sp>
      <p:sp>
        <p:nvSpPr>
          <p:cNvPr id="8" name="TextBox 7"/>
          <p:cNvSpPr txBox="1"/>
          <p:nvPr/>
        </p:nvSpPr>
        <p:spPr>
          <a:xfrm>
            <a:off x="4480560" y="2560320"/>
            <a:ext cx="2926080" cy="3840480"/>
          </a:xfrm>
          <a:prstGeom prst="rect">
            <a:avLst/>
          </a:prstGeom>
          <a:noFill/>
        </p:spPr>
        <p:txBody>
          <a:bodyPr wrap="square">
            <a:spAutoFit/>
          </a:bodyPr>
          <a:lstStyle/>
          <a:p>
            <a:pPr>
              <a:defRPr b="1" sz="2000">
                <a:solidFill>
                  <a:srgbClr val="2563EB"/>
                </a:solidFill>
              </a:defRPr>
            </a:pPr>
            <a:r>
              <a:t>Ordering Rule</a:t>
            </a:r>
          </a:p>
          <a:p>
            <a:pPr>
              <a:spcBef>
                <a:spcPts val="800"/>
              </a:spcBef>
              <a:defRPr b="1" sz="1200">
                <a:solidFill>
                  <a:srgbClr val="1FC16B"/>
                </a:solidFill>
              </a:defRPr>
            </a:pPr>
            <a:r>
              <a:t>PAY THEN LEDGER</a:t>
            </a:r>
          </a:p>
          <a:p>
            <a:pPr>
              <a:spcBef>
                <a:spcPts val="1600"/>
              </a:spcBef>
              <a:defRPr sz="1400">
                <a:solidFill>
                  <a:srgbClr val="334155"/>
                </a:solidFill>
              </a:defRPr>
            </a:pPr>
            <a:r>
              <a:t>Negative ledger entries are recorded ONLY after the external provider confirms disbursement success. Failed payouts leave balance intact and retriable.</a:t>
            </a:r>
          </a:p>
        </p:txBody>
      </p:sp>
      <p:sp>
        <p:nvSpPr>
          <p:cNvPr id="9" name="TextBox 8"/>
          <p:cNvSpPr txBox="1"/>
          <p:nvPr/>
        </p:nvSpPr>
        <p:spPr>
          <a:xfrm>
            <a:off x="7863840" y="2560320"/>
            <a:ext cx="2926080" cy="3840480"/>
          </a:xfrm>
          <a:prstGeom prst="rect">
            <a:avLst/>
          </a:prstGeom>
          <a:noFill/>
        </p:spPr>
        <p:txBody>
          <a:bodyPr wrap="square">
            <a:spAutoFit/>
          </a:bodyPr>
          <a:lstStyle/>
          <a:p>
            <a:pPr>
              <a:defRPr b="1" sz="2000">
                <a:solidFill>
                  <a:srgbClr val="2563EB"/>
                </a:solidFill>
              </a:defRPr>
            </a:pPr>
            <a:r>
              <a:t>Reconciliation</a:t>
            </a:r>
          </a:p>
          <a:p>
            <a:pPr>
              <a:spcBef>
                <a:spcPts val="800"/>
              </a:spcBef>
              <a:defRPr b="1" sz="1200">
                <a:solidFill>
                  <a:srgbClr val="1FC16B"/>
                </a:solidFill>
              </a:defRPr>
            </a:pPr>
            <a:r>
              <a:t>3-WAY DAILY MATCH</a:t>
            </a:r>
          </a:p>
          <a:p>
            <a:pPr>
              <a:spcBef>
                <a:spcPts val="1600"/>
              </a:spcBef>
              <a:defRPr sz="1400">
                <a:solidFill>
                  <a:srgbClr val="334155"/>
                </a:solidFill>
              </a:defRPr>
            </a:pPr>
            <a:r>
              <a:t>Automated daily match: Provider Statement vs Sub-Ledger Sum vs Rail Log. Any non-zero delta immediately freezes disbursements and pages on-call.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APPENDIX A3</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Key Business Risks &amp; Concrete Mitigations.</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9601200" cy="457200"/>
          </a:xfrm>
          <a:prstGeom prst="rect">
            <a:avLst/>
          </a:prstGeom>
          <a:noFill/>
        </p:spPr>
        <p:txBody>
          <a:bodyPr wrap="none">
            <a:spAutoFit/>
          </a:bodyPr>
          <a:lstStyle/>
          <a:p>
            <a:pPr>
              <a:defRPr b="1" sz="1400">
                <a:solidFill>
                  <a:srgbClr val="DC2626"/>
                </a:solidFill>
              </a:defRPr>
            </a:pPr>
            <a:r>
              <a:t>Risk: Aggregator restricts escrow model</a:t>
            </a:r>
          </a:p>
          <a:p>
            <a:pPr>
              <a:defRPr sz="1400">
                <a:solidFill>
                  <a:srgbClr val="334155"/>
                </a:solidFill>
              </a:defRPr>
            </a:pPr>
            <a:r>
              <a:t>Mitigation: Clarified in writing during Week 1. If restricted, we jump directly to licensed P2 partner bank.</a:t>
            </a:r>
          </a:p>
        </p:txBody>
      </p:sp>
      <p:sp>
        <p:nvSpPr>
          <p:cNvPr id="8" name="TextBox 7"/>
          <p:cNvSpPr txBox="1"/>
          <p:nvPr/>
        </p:nvSpPr>
        <p:spPr>
          <a:xfrm>
            <a:off x="1097280" y="3200400"/>
            <a:ext cx="9601200" cy="457200"/>
          </a:xfrm>
          <a:prstGeom prst="rect">
            <a:avLst/>
          </a:prstGeom>
          <a:noFill/>
        </p:spPr>
        <p:txBody>
          <a:bodyPr wrap="none">
            <a:spAutoFit/>
          </a:bodyPr>
          <a:lstStyle/>
          <a:p>
            <a:pPr>
              <a:defRPr b="1" sz="1400">
                <a:solidFill>
                  <a:srgbClr val="DC2626"/>
                </a:solidFill>
              </a:defRPr>
            </a:pPr>
            <a:r>
              <a:t>Risk: P1 is legally thin at scale</a:t>
            </a:r>
          </a:p>
          <a:p>
            <a:pPr>
              <a:defRPr sz="1400">
                <a:solidFill>
                  <a:srgbClr val="334155"/>
                </a:solidFill>
              </a:defRPr>
            </a:pPr>
            <a:r>
              <a:t>Mitigation: Deliberately an interim state. Volumes strictly capped; explicit disclosure; active sprint toward P2 trust account.</a:t>
            </a:r>
          </a:p>
        </p:txBody>
      </p:sp>
      <p:sp>
        <p:nvSpPr>
          <p:cNvPr id="9" name="TextBox 8"/>
          <p:cNvSpPr txBox="1"/>
          <p:nvPr/>
        </p:nvSpPr>
        <p:spPr>
          <a:xfrm>
            <a:off x="1097280" y="3840479"/>
            <a:ext cx="9601200" cy="457200"/>
          </a:xfrm>
          <a:prstGeom prst="rect">
            <a:avLst/>
          </a:prstGeom>
          <a:noFill/>
        </p:spPr>
        <p:txBody>
          <a:bodyPr wrap="none">
            <a:spAutoFit/>
          </a:bodyPr>
          <a:lstStyle/>
          <a:p>
            <a:pPr>
              <a:defRPr b="1" sz="1400">
                <a:solidFill>
                  <a:srgbClr val="DC2626"/>
                </a:solidFill>
              </a:defRPr>
            </a:pPr>
            <a:r>
              <a:t>Risk: Working capital gap (T+2 settlement)</a:t>
            </a:r>
          </a:p>
          <a:p>
            <a:pPr>
              <a:defRPr sz="1400">
                <a:solidFill>
                  <a:srgbClr val="334155"/>
                </a:solidFill>
              </a:defRPr>
            </a:pPr>
            <a:r>
              <a:t>Mitigation: Float sized and reserved in budget; option to align vendor payout timing to settlement cycle.</a:t>
            </a:r>
          </a:p>
        </p:txBody>
      </p:sp>
      <p:sp>
        <p:nvSpPr>
          <p:cNvPr id="10" name="TextBox 9"/>
          <p:cNvSpPr txBox="1"/>
          <p:nvPr/>
        </p:nvSpPr>
        <p:spPr>
          <a:xfrm>
            <a:off x="1097280" y="4480559"/>
            <a:ext cx="9601200" cy="457200"/>
          </a:xfrm>
          <a:prstGeom prst="rect">
            <a:avLst/>
          </a:prstGeom>
          <a:noFill/>
        </p:spPr>
        <p:txBody>
          <a:bodyPr wrap="none">
            <a:spAutoFit/>
          </a:bodyPr>
          <a:lstStyle/>
          <a:p>
            <a:pPr>
              <a:defRPr b="1" sz="1400">
                <a:solidFill>
                  <a:srgbClr val="DC2626"/>
                </a:solidFill>
              </a:defRPr>
            </a:pPr>
            <a:r>
              <a:t>Risk: Buyer drop-off at install step</a:t>
            </a:r>
          </a:p>
          <a:p>
            <a:pPr>
              <a:defRPr sz="1400">
                <a:solidFill>
                  <a:srgbClr val="334155"/>
                </a:solidFill>
              </a:defRPr>
            </a:pPr>
            <a:r>
              <a:t>Mitigation: Web-based payment fallback supported; buyer pays via mobile browser + USSD prompt without app install.</a:t>
            </a:r>
          </a:p>
        </p:txBody>
      </p:sp>
      <p:sp>
        <p:nvSpPr>
          <p:cNvPr id="11" name="TextBox 10"/>
          <p:cNvSpPr txBox="1"/>
          <p:nvPr/>
        </p:nvSpPr>
        <p:spPr>
          <a:xfrm>
            <a:off x="1097280" y="5120640"/>
            <a:ext cx="9601200" cy="457200"/>
          </a:xfrm>
          <a:prstGeom prst="rect">
            <a:avLst/>
          </a:prstGeom>
          <a:noFill/>
        </p:spPr>
        <p:txBody>
          <a:bodyPr wrap="none">
            <a:spAutoFit/>
          </a:bodyPr>
          <a:lstStyle/>
          <a:p>
            <a:pPr>
              <a:defRPr b="1" sz="1400">
                <a:solidFill>
                  <a:srgbClr val="DC2626"/>
                </a:solidFill>
              </a:defRPr>
            </a:pPr>
            <a:r>
              <a:t>Risk: Dispute volume overwhelms team</a:t>
            </a:r>
          </a:p>
          <a:p>
            <a:pPr>
              <a:defRPr sz="1400">
                <a:solidFill>
                  <a:srgbClr val="334155"/>
                </a:solidFill>
              </a:defRPr>
            </a:pPr>
            <a:r>
              <a:t>Mitigation: Automated Tier 1 (media hash) and Tier 2 (SQL heuristics) filter out clear fraud before human review.</a:t>
            </a:r>
          </a:p>
        </p:txBody>
      </p:sp>
      <p:sp>
        <p:nvSpPr>
          <p:cNvPr id="12" name="TextBox 11"/>
          <p:cNvSpPr txBox="1"/>
          <p:nvPr/>
        </p:nvSpPr>
        <p:spPr>
          <a:xfrm>
            <a:off x="1097280" y="5760720"/>
            <a:ext cx="9601200" cy="457200"/>
          </a:xfrm>
          <a:prstGeom prst="rect">
            <a:avLst/>
          </a:prstGeom>
          <a:noFill/>
        </p:spPr>
        <p:txBody>
          <a:bodyPr wrap="none">
            <a:spAutoFit/>
          </a:bodyPr>
          <a:lstStyle/>
          <a:p>
            <a:pPr>
              <a:defRPr b="1" sz="1400">
                <a:solidFill>
                  <a:srgbClr val="DC2626"/>
                </a:solidFill>
              </a:defRPr>
            </a:pPr>
            <a:r>
              <a:t>Risk: Wrong AI dispute decision</a:t>
            </a:r>
          </a:p>
          <a:p>
            <a:pPr>
              <a:defRPr sz="1400">
                <a:solidFill>
                  <a:srgbClr val="334155"/>
                </a:solidFill>
              </a:defRPr>
            </a:pPr>
            <a:r>
              <a:t>Mitigation: Written adjudication policy, ring-fenced loss reserve plus 0.3% of order value per order, appeal path, and ToS liability caps.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APPENDIX A4</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Modular Regional Expansion: Kenya &amp; Nigeria.</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2926080" cy="3840480"/>
          </a:xfrm>
          <a:prstGeom prst="rect">
            <a:avLst/>
          </a:prstGeom>
          <a:noFill/>
        </p:spPr>
        <p:txBody>
          <a:bodyPr wrap="square">
            <a:spAutoFit/>
          </a:bodyPr>
          <a:lstStyle/>
          <a:p>
            <a:pPr>
              <a:defRPr b="1" sz="2000">
                <a:solidFill>
                  <a:srgbClr val="2563EB"/>
                </a:solidFill>
              </a:defRPr>
            </a:pPr>
            <a:r>
              <a:t>Ghana (Current)</a:t>
            </a:r>
          </a:p>
          <a:p>
            <a:pPr>
              <a:spcBef>
                <a:spcPts val="800"/>
              </a:spcBef>
              <a:defRPr b="1" sz="1200">
                <a:solidFill>
                  <a:srgbClr val="1FC16B"/>
                </a:solidFill>
              </a:defRPr>
            </a:pPr>
            <a:r>
              <a:t>GHS · MTN MoMo, Telecel</a:t>
            </a:r>
          </a:p>
          <a:p>
            <a:pPr>
              <a:spcBef>
                <a:spcPts val="1600"/>
              </a:spcBef>
              <a:defRPr sz="1400">
                <a:solidFill>
                  <a:srgbClr val="334155"/>
                </a:solidFill>
              </a:defRPr>
            </a:pPr>
            <a:r>
              <a:t>Bank of Ghana (Act 987). Lead launch market. 20M+ wallets. Initial P1 aggregator pilot → P2 partner trust account.</a:t>
            </a:r>
          </a:p>
        </p:txBody>
      </p:sp>
      <p:sp>
        <p:nvSpPr>
          <p:cNvPr id="8" name="TextBox 7"/>
          <p:cNvSpPr txBox="1"/>
          <p:nvPr/>
        </p:nvSpPr>
        <p:spPr>
          <a:xfrm>
            <a:off x="4480560" y="2560320"/>
            <a:ext cx="2926080" cy="3840480"/>
          </a:xfrm>
          <a:prstGeom prst="rect">
            <a:avLst/>
          </a:prstGeom>
          <a:noFill/>
        </p:spPr>
        <p:txBody>
          <a:bodyPr wrap="square">
            <a:spAutoFit/>
          </a:bodyPr>
          <a:lstStyle/>
          <a:p>
            <a:pPr>
              <a:defRPr b="1" sz="2000">
                <a:solidFill>
                  <a:srgbClr val="2563EB"/>
                </a:solidFill>
              </a:defRPr>
            </a:pPr>
            <a:r>
              <a:t>Kenya (Fast Follow)</a:t>
            </a:r>
          </a:p>
          <a:p>
            <a:pPr>
              <a:spcBef>
                <a:spcPts val="800"/>
              </a:spcBef>
              <a:defRPr b="1" sz="1200">
                <a:solidFill>
                  <a:srgbClr val="1FC16B"/>
                </a:solidFill>
              </a:defRPr>
            </a:pPr>
            <a:r>
              <a:t>KES · Safaricom M-Pesa</a:t>
            </a:r>
          </a:p>
          <a:p>
            <a:pPr>
              <a:spcBef>
                <a:spcPts val="1600"/>
              </a:spcBef>
              <a:defRPr sz="1400">
                <a:solidFill>
                  <a:srgbClr val="334155"/>
                </a:solidFill>
              </a:defRPr>
            </a:pPr>
            <a:r>
              <a:t>Central Bank of Kenya. Dominant M-Pesa rail (30M+ users). Added via Safaricom Daraja API PaymentRail implementation.</a:t>
            </a:r>
          </a:p>
        </p:txBody>
      </p:sp>
      <p:sp>
        <p:nvSpPr>
          <p:cNvPr id="9" name="TextBox 8"/>
          <p:cNvSpPr txBox="1"/>
          <p:nvPr/>
        </p:nvSpPr>
        <p:spPr>
          <a:xfrm>
            <a:off x="7863840" y="2560320"/>
            <a:ext cx="2926080" cy="3840480"/>
          </a:xfrm>
          <a:prstGeom prst="rect">
            <a:avLst/>
          </a:prstGeom>
          <a:noFill/>
        </p:spPr>
        <p:txBody>
          <a:bodyPr wrap="square">
            <a:spAutoFit/>
          </a:bodyPr>
          <a:lstStyle/>
          <a:p>
            <a:pPr>
              <a:defRPr b="1" sz="2000">
                <a:solidFill>
                  <a:srgbClr val="2563EB"/>
                </a:solidFill>
              </a:defRPr>
            </a:pPr>
            <a:r>
              <a:t>Nigeria (High Volume)</a:t>
            </a:r>
          </a:p>
          <a:p>
            <a:pPr>
              <a:spcBef>
                <a:spcPts val="800"/>
              </a:spcBef>
              <a:defRPr b="1" sz="1200">
                <a:solidFill>
                  <a:srgbClr val="1FC16B"/>
                </a:solidFill>
              </a:defRPr>
            </a:pPr>
            <a:r>
              <a:t>NGN · Bank Transfer, Cards</a:t>
            </a:r>
          </a:p>
          <a:p>
            <a:pPr>
              <a:spcBef>
                <a:spcPts val="1600"/>
              </a:spcBef>
              <a:defRPr sz="1400">
                <a:solidFill>
                  <a:srgbClr val="334155"/>
                </a:solidFill>
              </a:defRPr>
            </a:pPr>
            <a:r>
              <a:t>Central Bank of Nigeria. Card networks, NIP bank transfers, and BVN identity verification. High social commerce volume.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8229600" cy="365760"/>
          </a:xfrm>
          <a:prstGeom prst="rect">
            <a:avLst/>
          </a:prstGeom>
          <a:noFill/>
        </p:spPr>
        <p:txBody>
          <a:bodyPr wrap="square">
            <a:spAutoFit/>
          </a:bodyPr>
          <a:lstStyle/>
          <a:p>
            <a:pPr>
              <a:defRPr sz="1200" b="1">
                <a:solidFill>
                  <a:srgbClr val="2563EB"/>
                </a:solidFill>
                <a:latin typeface="Segoe UI"/>
              </a:defRPr>
            </a:pPr>
            <a:r>
              <a:t>APPENDIX A5</a:t>
            </a:r>
          </a:p>
        </p:txBody>
      </p:sp>
      <p:sp>
        <p:nvSpPr>
          <p:cNvPr id="4" name="TextBox 3"/>
          <p:cNvSpPr txBox="1"/>
          <p:nvPr/>
        </p:nvSpPr>
        <p:spPr>
          <a:xfrm>
            <a:off x="1051560" y="1005840"/>
            <a:ext cx="8686800" cy="731520"/>
          </a:xfrm>
          <a:prstGeom prst="rect">
            <a:avLst/>
          </a:prstGeom>
          <a:noFill/>
        </p:spPr>
        <p:txBody>
          <a:bodyPr wrap="square">
            <a:spAutoFit/>
          </a:bodyPr>
          <a:lstStyle/>
          <a:p>
            <a:pPr>
              <a:defRPr sz="3200" b="1">
                <a:solidFill>
                  <a:srgbClr val="0F172A"/>
                </a:solidFill>
                <a:latin typeface="Segoe UI"/>
              </a:defRPr>
            </a:pPr>
            <a:r>
              <a:t>Investor &amp; Partner FAQ.</a:t>
            </a:r>
          </a:p>
        </p:txBody>
      </p:sp>
      <p:sp>
        <p:nvSpPr>
          <p:cNvPr id="5" name="Rectangle 4"/>
          <p:cNvSpPr/>
          <p:nvPr/>
        </p:nvSpPr>
        <p:spPr>
          <a:xfrm>
            <a:off x="1097280" y="2011680"/>
            <a:ext cx="999713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e_wordmark_dark.png"/>
          <p:cNvPicPr>
            <a:picLocks noChangeAspect="1"/>
          </p:cNvPicPr>
          <p:nvPr/>
        </p:nvPicPr>
        <p:blipFill>
          <a:blip r:embed="rId2"/>
          <a:stretch>
            <a:fillRect/>
          </a:stretch>
        </p:blipFill>
        <p:spPr>
          <a:xfrm>
            <a:off x="10241280" y="548640"/>
            <a:ext cx="1097280" cy="333150"/>
          </a:xfrm>
          <a:prstGeom prst="rect">
            <a:avLst/>
          </a:prstGeom>
        </p:spPr>
      </p:pic>
      <p:sp>
        <p:nvSpPr>
          <p:cNvPr id="7" name="TextBox 6"/>
          <p:cNvSpPr txBox="1"/>
          <p:nvPr/>
        </p:nvSpPr>
        <p:spPr>
          <a:xfrm>
            <a:off x="1097280" y="2560320"/>
            <a:ext cx="9601200" cy="731520"/>
          </a:xfrm>
          <a:prstGeom prst="rect">
            <a:avLst/>
          </a:prstGeom>
          <a:noFill/>
        </p:spPr>
        <p:txBody>
          <a:bodyPr wrap="square">
            <a:spAutoFit/>
          </a:bodyPr>
          <a:lstStyle/>
          <a:p>
            <a:pPr>
              <a:defRPr b="1" sz="1500">
                <a:solidFill>
                  <a:srgbClr val="2563EB"/>
                </a:solidFill>
              </a:defRPr>
            </a:pPr>
            <a:r>
              <a:t>Q: Isn't this unlicensed money transmission?</a:t>
            </a:r>
          </a:p>
          <a:p>
            <a:pPr>
              <a:spcBef>
                <a:spcPts val="600"/>
              </a:spcBef>
              <a:defRPr sz="1400">
                <a:solidFill>
                  <a:srgbClr val="334155"/>
                </a:solidFill>
              </a:defRPr>
            </a:pPr>
            <a:r>
              <a:t>A: No. Croe never holds client funds on its own balance sheet. In pilot, funds settle via aggregator merchant settlement; at scale, via a licensed partner bank trust account.</a:t>
            </a:r>
          </a:p>
        </p:txBody>
      </p:sp>
      <p:sp>
        <p:nvSpPr>
          <p:cNvPr id="8" name="TextBox 7"/>
          <p:cNvSpPr txBox="1"/>
          <p:nvPr/>
        </p:nvSpPr>
        <p:spPr>
          <a:xfrm>
            <a:off x="1097280" y="3474720"/>
            <a:ext cx="9601200" cy="731520"/>
          </a:xfrm>
          <a:prstGeom prst="rect">
            <a:avLst/>
          </a:prstGeom>
          <a:noFill/>
        </p:spPr>
        <p:txBody>
          <a:bodyPr wrap="square">
            <a:spAutoFit/>
          </a:bodyPr>
          <a:lstStyle/>
          <a:p>
            <a:pPr>
              <a:defRPr b="1" sz="1500">
                <a:solidFill>
                  <a:srgbClr val="2563EB"/>
                </a:solidFill>
              </a:defRPr>
            </a:pPr>
            <a:r>
              <a:t>Q: What stops the buyer confirming delivery and then lying?</a:t>
            </a:r>
          </a:p>
          <a:p>
            <a:pPr>
              <a:spcBef>
                <a:spcPts val="600"/>
              </a:spcBef>
              <a:defRPr sz="1400">
                <a:solidFill>
                  <a:srgbClr val="334155"/>
                </a:solidFill>
              </a:defRPr>
            </a:pPr>
            <a:r>
              <a:t>A: Dispute window closes upon buyer confirmation. Inspection timers auto-release funds. Media is SHA-256 hashed to prevent recycled scam photos.</a:t>
            </a:r>
          </a:p>
        </p:txBody>
      </p:sp>
      <p:sp>
        <p:nvSpPr>
          <p:cNvPr id="9" name="TextBox 8"/>
          <p:cNvSpPr txBox="1"/>
          <p:nvPr/>
        </p:nvSpPr>
        <p:spPr>
          <a:xfrm>
            <a:off x="1097280" y="4389120"/>
            <a:ext cx="9601200" cy="731520"/>
          </a:xfrm>
          <a:prstGeom prst="rect">
            <a:avLst/>
          </a:prstGeom>
          <a:noFill/>
        </p:spPr>
        <p:txBody>
          <a:bodyPr wrap="square">
            <a:spAutoFit/>
          </a:bodyPr>
          <a:lstStyle/>
          <a:p>
            <a:pPr>
              <a:defRPr b="1" sz="1500">
                <a:solidFill>
                  <a:srgbClr val="2563EB"/>
                </a:solidFill>
              </a:defRPr>
            </a:pPr>
            <a:r>
              <a:t>Q: Why would a vendor wait for payout?</a:t>
            </a:r>
          </a:p>
          <a:p>
            <a:pPr>
              <a:spcBef>
                <a:spcPts val="600"/>
              </a:spcBef>
              <a:defRPr sz="1400">
                <a:solidFill>
                  <a:srgbClr val="334155"/>
                </a:solidFill>
              </a:defRPr>
            </a:pPr>
            <a:r>
              <a:t>A: Because they currently lose 25% of sales to payment anxiety. Closing 8 additional GHS 1,200 sales per month far outweighs waiting 24 hours for settlement.</a:t>
            </a:r>
          </a:p>
        </p:txBody>
      </p:sp>
      <p:sp>
        <p:nvSpPr>
          <p:cNvPr id="10" name="TextBox 9"/>
          <p:cNvSpPr txBox="1"/>
          <p:nvPr/>
        </p:nvSpPr>
        <p:spPr>
          <a:xfrm>
            <a:off x="1097280" y="5303520"/>
            <a:ext cx="9601200" cy="731520"/>
          </a:xfrm>
          <a:prstGeom prst="rect">
            <a:avLst/>
          </a:prstGeom>
          <a:noFill/>
        </p:spPr>
        <p:txBody>
          <a:bodyPr wrap="square">
            <a:spAutoFit/>
          </a:bodyPr>
          <a:lstStyle/>
          <a:p>
            <a:pPr>
              <a:defRPr b="1" sz="1500">
                <a:solidFill>
                  <a:srgbClr val="2563EB"/>
                </a:solidFill>
              </a:defRPr>
            </a:pPr>
            <a:r>
              <a:t>Q: Why won't MTN or Paystack just copy this?</a:t>
            </a:r>
          </a:p>
          <a:p>
            <a:pPr>
              <a:spcBef>
                <a:spcPts val="600"/>
              </a:spcBef>
              <a:defRPr sz="1400">
                <a:solidFill>
                  <a:srgbClr val="334155"/>
                </a:solidFill>
              </a:defRPr>
            </a:pPr>
            <a:r>
              <a:t>A: Aggregators provide generic rails; they avoid subjective dispute arbitration and merchant operational friction. Our moat is vendor trust and dispute fairness.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